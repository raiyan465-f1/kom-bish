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Kom Bish is a Bangla rice adviser. A farmer sends a photo of one rice leaf and gets a pre-written, reviewed Bangla answer, as text and as an audio clip, that says whether a spray is needed at all. When it is not sure it sends the farmer to the Krishi Call Centre 16123 or the local agriculture officer. The app is live; the links are on this slide and on the last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person who profits from a sale is often the farmer's main adviser. The dealer figure is from a 2014-15 survey of brinjal farmers, not rice farmers. The call-centre figure shows that farmers already ask for independent advice. Kom Bish takes no money from input sellers and never names a brand or a dose.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screenshots of the live app, in Bangla, as a farmer sees it on a phone. The farmer ticks the consent box and uploads a photo of one leaf. If the photo looks like bacterial leaf blight the app first asks where the patches start. Only on a yes does it give the answer: no insecticide is needed, fix the fertiliser. The same reviewed text is played as a Bangla audio clip; the voice is computer-generated and the app says so. When the model is not confident the app says so and gives the call-centre number. The app has a Show English switch for reviewers.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Kom Bish is built to avoid wrong spray advice, not to diagnose everything. An answer has to pass four gates. First the general confidence gate. Second a stricter threshold for each disease, chosen on validation data only. Third the farmer's own yes to one question about what is on the leaf: one question for bacterial leaf blight and one for blast. No or not sure sends the farmer to the call centre or the officer. Fourth, the answer itself comes from a closed table of reviewed sentences. Each question has its own answer box, so a yes to one can never confirm the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green runs in the live app today. The photo goes through an ONNX classifier on the CPU; the model only names one of four classes. Plain Python code applies the confidence gates and picks a row in the rule table; for a disease answer the app first asks the farmer one question. The farmer sees and hears only pre-written, reviewed text. The log is anonymous: no photo, audio, name or phone number is stored. Orange is planned. Voice input is the next step: the code is written and tested, but it is switched off until we have tested it with real voice notes, and it can only add caution.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final numbers for the published model, version 2.1. The same definitions are used everywhere. Classifier confident means the prediction passed the gates. Advice given is the healthy answer, no spray now: the only answer the farmer gets from the photo alone. For bacterial leaf blight and for blast the app asks the farmer a question first, so those are counted separately. The Indian set is held out from Paddy Doctor, which is also part of the training data, so only the Philippine set is truly external. There the model recognised about half of the healthy leaves and referred almost every diseased one. Wrong spray advice is zero on all three sets.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where it fails and we show it. Outside the sources it was trained on, the model refers diseased leaves instead of recognising them. Four textbook photos of blast from the web were not recognised; after we raised one threshold on validation data and added a question, all four are referred. A few diseased leaves were told no spray now, which is why the healthy answer ends with what to do if spots appear. Nobody has checked what a farmer did after an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Recognising diseases in a new place needs local data with trustworthy labels, and the referral already sends the farmer to the person who can give that label. The plan, which is not built: when the app refers a farmer and an officer then sees the crop, the officer's diagnosis and the photo, with a separate explicit consent, become local training data. A new model replaces the old one only if it gives more right answers on a held-out local test and no more wrong spray advice. The live app, the code and the model are public at the links on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914400"/>
            <a:ext cx="7863840" cy="1005840"/>
          </a:xfrm>
          <a:prstGeom prst="rect">
            <a:avLst/>
          </a:prstGeom>
          <a:noFill/>
        </p:spPr>
        <p:txBody>
          <a:bodyPr wrap="square">
            <a:spAutoFit/>
          </a:bodyPr>
          <a:lstStyle/>
          <a:p>
            <a:pPr>
              <a:spcAft>
                <a:spcPts val="600"/>
              </a:spcAft>
            </a:pPr>
            <a:r>
              <a:rPr sz="5400" b="1">
                <a:solidFill>
                  <a:srgbClr val="1B5E20"/>
                </a:solidFill>
                <a:latin typeface="Nirmala UI"/>
              </a:rPr>
              <a:t>Kom Bish (কম বিষ)</a:t>
            </a:r>
          </a:p>
        </p:txBody>
      </p:sp>
      <p:sp>
        <p:nvSpPr>
          <p:cNvPr id="3" name="TextBox 2"/>
          <p:cNvSpPr txBox="1"/>
          <p:nvPr/>
        </p:nvSpPr>
        <p:spPr>
          <a:xfrm>
            <a:off x="640080" y="2057400"/>
            <a:ext cx="7863840" cy="914400"/>
          </a:xfrm>
          <a:prstGeom prst="rect">
            <a:avLst/>
          </a:prstGeom>
          <a:noFill/>
        </p:spPr>
        <p:txBody>
          <a:bodyPr wrap="square">
            <a:spAutoFit/>
          </a:bodyPr>
          <a:lstStyle/>
          <a:p>
            <a:pPr>
              <a:spcAft>
                <a:spcPts val="600"/>
              </a:spcAft>
            </a:pPr>
            <a:r>
              <a:rPr sz="2800" b="0">
                <a:solidFill>
                  <a:srgbClr val="1B1B1B"/>
                </a:solidFill>
              </a:rPr>
              <a:t>A Bangla rice adviser that says whether to spray at all.</a:t>
            </a:r>
          </a:p>
        </p:txBody>
      </p:sp>
      <p:sp>
        <p:nvSpPr>
          <p:cNvPr id="4" name="TextBox 3"/>
          <p:cNvSpPr txBox="1"/>
          <p:nvPr/>
        </p:nvSpPr>
        <p:spPr>
          <a:xfrm>
            <a:off x="640080" y="3063240"/>
            <a:ext cx="7863840" cy="548640"/>
          </a:xfrm>
          <a:prstGeom prst="rect">
            <a:avLst/>
          </a:prstGeom>
          <a:noFill/>
        </p:spPr>
        <p:txBody>
          <a:bodyPr wrap="square">
            <a:spAutoFit/>
          </a:bodyPr>
          <a:lstStyle/>
          <a:p>
            <a:pPr>
              <a:spcAft>
                <a:spcPts val="600"/>
              </a:spcAft>
            </a:pPr>
            <a:r>
              <a:rPr sz="2200" b="1">
                <a:solidFill>
                  <a:srgbClr val="2E7D32"/>
                </a:solidFill>
              </a:rPr>
              <a:t>Safe by design: it refers what it doesn't know.</a:t>
            </a:r>
          </a:p>
        </p:txBody>
      </p:sp>
      <p:sp>
        <p:nvSpPr>
          <p:cNvPr id="5" name="TextBox 4"/>
          <p:cNvSpPr txBox="1"/>
          <p:nvPr/>
        </p:nvSpPr>
        <p:spPr>
          <a:xfrm>
            <a:off x="640080" y="3886200"/>
            <a:ext cx="7863840" cy="822960"/>
          </a:xfrm>
          <a:prstGeom prst="rect">
            <a:avLst/>
          </a:prstGeom>
          <a:noFill/>
        </p:spPr>
        <p:txBody>
          <a:bodyPr wrap="square">
            <a:spAutoFit/>
          </a:bodyPr>
          <a:lstStyle/>
          <a:p>
            <a:pPr>
              <a:spcAft>
                <a:spcPts val="600"/>
              </a:spcAft>
            </a:pPr>
            <a:r>
              <a:rPr sz="1600" b="0">
                <a:solidFill>
                  <a:srgbClr val="555555"/>
                </a:solidFill>
              </a:rPr>
              <a:t>Team Unsick · Hack for Humanity BD 2026, Round 2</a:t>
            </a:r>
          </a:p>
          <a:p>
            <a:pPr>
              <a:spcAft>
                <a:spcPts val="600"/>
              </a:spcAft>
            </a:pPr>
            <a:r>
              <a:rPr sz="1600" b="0">
                <a:solidFill>
                  <a:srgbClr val="555555"/>
                </a:solidFill>
              </a:rPr>
              <a:t>Track: Inclusive Rural Development &amp; Agriculture</a:t>
            </a:r>
          </a:p>
        </p:txBody>
      </p:sp>
      <p:sp>
        <p:nvSpPr>
          <p:cNvPr id="6" name="TextBox 5"/>
          <p:cNvSpPr txBox="1"/>
          <p:nvPr/>
        </p:nvSpPr>
        <p:spPr>
          <a:xfrm>
            <a:off x="640080" y="4892040"/>
            <a:ext cx="7863840" cy="1371600"/>
          </a:xfrm>
          <a:prstGeom prst="rect">
            <a:avLst/>
          </a:prstGeom>
          <a:noFill/>
        </p:spPr>
        <p:txBody>
          <a:bodyPr wrap="square">
            <a:spAutoFit/>
          </a:bodyPr>
          <a:lstStyle/>
          <a:p>
            <a:pPr>
              <a:spcAft>
                <a:spcPts val="300"/>
              </a:spcAft>
            </a:pPr>
            <a:r>
              <a:rPr sz="1500" b="0">
                <a:solidFill>
                  <a:srgbClr val="1B1B1B"/>
                </a:solidFill>
              </a:rPr>
              <a:t>Live app: https://raiyan465-kom-bish.hf.space</a:t>
            </a:r>
          </a:p>
          <a:p>
            <a:pPr>
              <a:spcAft>
                <a:spcPts val="300"/>
              </a:spcAft>
            </a:pPr>
            <a:r>
              <a:rPr sz="1500" b="0">
                <a:solidFill>
                  <a:srgbClr val="1B1B1B"/>
                </a:solidFill>
              </a:rPr>
              <a:t>Code: https://github.com/Raiyan465-F1/kom-bish</a:t>
            </a:r>
          </a:p>
          <a:p>
            <a:pPr>
              <a:spcAft>
                <a:spcPts val="300"/>
              </a:spcAft>
            </a:pPr>
            <a:r>
              <a:rPr sz="1500" b="0">
                <a:solidFill>
                  <a:srgbClr val="1B1B1B"/>
                </a:solidFill>
              </a:rPr>
              <a:t>Model: https://huggingface.co/Raiyan465/kom-bish-rice-leaf</a:t>
            </a:r>
          </a:p>
          <a:p>
            <a:pPr>
              <a:spcAft>
                <a:spcPts val="300"/>
              </a:spcAft>
            </a:pPr>
            <a:r>
              <a:rPr sz="1500" b="0">
                <a:solidFill>
                  <a:srgbClr val="1B1B1B"/>
                </a:solidFill>
              </a:rPr>
              <a:t>Video: https://youtu.be/UUdfN2WERf4</a:t>
            </a:r>
          </a:p>
        </p:txBody>
      </p:sp>
      <p:pic>
        <p:nvPicPr>
          <p:cNvPr id="7" name="Picture 6" descr="04_blb_answer.png"/>
          <p:cNvPicPr>
            <a:picLocks noChangeAspect="1"/>
          </p:cNvPicPr>
          <p:nvPr/>
        </p:nvPicPr>
        <p:blipFill>
          <a:blip r:embed="rId2"/>
          <a:stretch>
            <a:fillRect/>
          </a:stretch>
        </p:blipFill>
        <p:spPr>
          <a:xfrm>
            <a:off x="9006840" y="365760"/>
            <a:ext cx="2453144" cy="5120640"/>
          </a:xfrm>
          <a:prstGeom prst="rect">
            <a:avLst/>
          </a:prstGeom>
          <a:ln w="9525">
            <a:solidFill>
              <a:srgbClr val="BBBBBB"/>
            </a:solidFill>
          </a:ln>
        </p:spPr>
      </p:pic>
      <p:sp>
        <p:nvSpPr>
          <p:cNvPr id="8" name="TextBox 7"/>
          <p:cNvSpPr txBox="1"/>
          <p:nvPr/>
        </p:nvSpPr>
        <p:spPr>
          <a:xfrm>
            <a:off x="8678931" y="5559552"/>
            <a:ext cx="3108960" cy="914400"/>
          </a:xfrm>
          <a:prstGeom prst="rect">
            <a:avLst/>
          </a:prstGeom>
          <a:noFill/>
        </p:spPr>
        <p:txBody>
          <a:bodyPr wrap="square">
            <a:spAutoFit/>
          </a:bodyPr>
          <a:lstStyle/>
          <a:p>
            <a:pPr algn="ctr">
              <a:spcAft>
                <a:spcPts val="600"/>
              </a:spcAft>
            </a:pPr>
            <a:r>
              <a:rPr sz="1200" b="0">
                <a:solidFill>
                  <a:srgbClr val="1B1B1B"/>
                </a:solidFill>
              </a:rPr>
              <a:t>The live app, as a farmer sees it: “No insecticide needed, fix the fertiliser”, as text and audio.</a:t>
            </a:r>
          </a:p>
        </p:txBody>
      </p:sp>
      <p:sp>
        <p:nvSpPr>
          <p:cNvPr id="9" name="TextBox 8"/>
          <p:cNvSpPr txBox="1"/>
          <p:nvPr/>
        </p:nvSpPr>
        <p:spPr>
          <a:xfrm>
            <a:off x="10881360" y="6400800"/>
            <a:ext cx="777240" cy="365760"/>
          </a:xfrm>
          <a:prstGeom prst="rect">
            <a:avLst/>
          </a:prstGeom>
          <a:noFill/>
        </p:spPr>
        <p:txBody>
          <a:bodyPr wrap="square">
            <a:spAutoFit/>
          </a:bodyPr>
          <a:lstStyle/>
          <a:p>
            <a:pPr algn="r">
              <a:spcAft>
                <a:spcPts val="600"/>
              </a:spcAft>
            </a:pPr>
            <a:r>
              <a:rPr sz="1000" b="0">
                <a:solidFill>
                  <a:srgbClr val="555555"/>
                </a:solidFill>
              </a:rP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spcAft>
                <a:spcPts val="600"/>
              </a:spcAft>
            </a:pPr>
            <a:r>
              <a:rPr sz="3000" b="1">
                <a:solidFill>
                  <a:srgbClr val="1B5E20"/>
                </a:solidFill>
              </a:rPr>
              <a:t>The shop that sells the spray often gives the advice too.</a:t>
            </a:r>
          </a:p>
        </p:txBody>
      </p:sp>
      <p:sp>
        <p:nvSpPr>
          <p:cNvPr id="3" name="Rectangle 2"/>
          <p:cNvSpPr/>
          <p:nvPr/>
        </p:nvSpPr>
        <p:spPr>
          <a:xfrm>
            <a:off x="548640" y="1115568"/>
            <a:ext cx="1106424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0241280" cy="365760"/>
          </a:xfrm>
          <a:prstGeom prst="rect">
            <a:avLst/>
          </a:prstGeom>
          <a:noFill/>
        </p:spPr>
        <p:txBody>
          <a:bodyPr wrap="square">
            <a:spAutoFit/>
          </a:bodyPr>
          <a:lstStyle/>
          <a:p>
            <a:pPr>
              <a:spcAft>
                <a:spcPts val="600"/>
              </a:spcAft>
            </a:pPr>
            <a:r>
              <a:rPr sz="1000" b="0">
                <a:solidFill>
                  <a:srgbClr val="555555"/>
                </a:solidFill>
              </a:rPr>
              <a:t>Mannan et al. 2021, BJAR (brinjal farmers, survey of 2014–15); Toxicology Reports systematic review (via DOAJ); BSS, 2 Jul 2026</a:t>
            </a:r>
          </a:p>
        </p:txBody>
      </p:sp>
      <p:sp>
        <p:nvSpPr>
          <p:cNvPr id="5" name="TextBox 4"/>
          <p:cNvSpPr txBox="1"/>
          <p:nvPr/>
        </p:nvSpPr>
        <p:spPr>
          <a:xfrm>
            <a:off x="10881360" y="6400800"/>
            <a:ext cx="777240" cy="365760"/>
          </a:xfrm>
          <a:prstGeom prst="rect">
            <a:avLst/>
          </a:prstGeom>
          <a:noFill/>
        </p:spPr>
        <p:txBody>
          <a:bodyPr wrap="square">
            <a:spAutoFit/>
          </a:bodyPr>
          <a:lstStyle/>
          <a:p>
            <a:pPr algn="r">
              <a:spcAft>
                <a:spcPts val="600"/>
              </a:spcAft>
            </a:pPr>
            <a:r>
              <a:rPr sz="1000" b="0">
                <a:solidFill>
                  <a:srgbClr val="555555"/>
                </a:solidFill>
              </a:rPr>
              <a:t>2 / 8</a:t>
            </a:r>
          </a:p>
        </p:txBody>
      </p:sp>
      <p:sp>
        <p:nvSpPr>
          <p:cNvPr id="6" name="Rounded Rectangle 5"/>
          <p:cNvSpPr/>
          <p:nvPr/>
        </p:nvSpPr>
        <p:spPr>
          <a:xfrm>
            <a:off x="548640" y="1554480"/>
            <a:ext cx="3566160" cy="301752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7" name="TextBox 6"/>
          <p:cNvSpPr txBox="1"/>
          <p:nvPr/>
        </p:nvSpPr>
        <p:spPr>
          <a:xfrm>
            <a:off x="731520" y="1783080"/>
            <a:ext cx="3200400" cy="914400"/>
          </a:xfrm>
          <a:prstGeom prst="rect">
            <a:avLst/>
          </a:prstGeom>
          <a:noFill/>
        </p:spPr>
        <p:txBody>
          <a:bodyPr wrap="square">
            <a:spAutoFit/>
          </a:bodyPr>
          <a:lstStyle/>
          <a:p>
            <a:pPr algn="ctr">
              <a:spcAft>
                <a:spcPts val="600"/>
              </a:spcAft>
            </a:pPr>
            <a:r>
              <a:rPr sz="4400" b="1">
                <a:solidFill>
                  <a:srgbClr val="1B5E20"/>
                </a:solidFill>
              </a:rPr>
              <a:t>73.23%</a:t>
            </a:r>
          </a:p>
        </p:txBody>
      </p:sp>
      <p:sp>
        <p:nvSpPr>
          <p:cNvPr id="8" name="TextBox 7"/>
          <p:cNvSpPr txBox="1"/>
          <p:nvPr/>
        </p:nvSpPr>
        <p:spPr>
          <a:xfrm>
            <a:off x="777240" y="2880360"/>
            <a:ext cx="3108960" cy="1554480"/>
          </a:xfrm>
          <a:prstGeom prst="rect">
            <a:avLst/>
          </a:prstGeom>
          <a:noFill/>
        </p:spPr>
        <p:txBody>
          <a:bodyPr wrap="square">
            <a:spAutoFit/>
          </a:bodyPr>
          <a:lstStyle/>
          <a:p>
            <a:pPr algn="ctr">
              <a:spcAft>
                <a:spcPts val="600"/>
              </a:spcAft>
            </a:pPr>
            <a:r>
              <a:rPr sz="1800" b="0">
                <a:solidFill>
                  <a:srgbClr val="1B1B1B"/>
                </a:solidFill>
              </a:rPr>
              <a:t>of brinjal farmers followed dealer advice on pesticides.</a:t>
            </a:r>
          </a:p>
        </p:txBody>
      </p:sp>
      <p:sp>
        <p:nvSpPr>
          <p:cNvPr id="9" name="Rounded Rectangle 8"/>
          <p:cNvSpPr/>
          <p:nvPr/>
        </p:nvSpPr>
        <p:spPr>
          <a:xfrm>
            <a:off x="4297679" y="1554480"/>
            <a:ext cx="3566160" cy="301752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 name="TextBox 9"/>
          <p:cNvSpPr txBox="1"/>
          <p:nvPr/>
        </p:nvSpPr>
        <p:spPr>
          <a:xfrm>
            <a:off x="4480559" y="1783080"/>
            <a:ext cx="3200400" cy="914400"/>
          </a:xfrm>
          <a:prstGeom prst="rect">
            <a:avLst/>
          </a:prstGeom>
          <a:noFill/>
        </p:spPr>
        <p:txBody>
          <a:bodyPr wrap="square">
            <a:spAutoFit/>
          </a:bodyPr>
          <a:lstStyle/>
          <a:p>
            <a:pPr algn="ctr">
              <a:spcAft>
                <a:spcPts val="600"/>
              </a:spcAft>
            </a:pPr>
            <a:r>
              <a:rPr sz="4400" b="1">
                <a:solidFill>
                  <a:srgbClr val="1B5E20"/>
                </a:solidFill>
              </a:rPr>
              <a:t>about 21%</a:t>
            </a:r>
          </a:p>
        </p:txBody>
      </p:sp>
      <p:sp>
        <p:nvSpPr>
          <p:cNvPr id="11" name="TextBox 10"/>
          <p:cNvSpPr txBox="1"/>
          <p:nvPr/>
        </p:nvSpPr>
        <p:spPr>
          <a:xfrm>
            <a:off x="4526279" y="2880360"/>
            <a:ext cx="3108960" cy="1554480"/>
          </a:xfrm>
          <a:prstGeom prst="rect">
            <a:avLst/>
          </a:prstGeom>
          <a:noFill/>
        </p:spPr>
        <p:txBody>
          <a:bodyPr wrap="square">
            <a:spAutoFit/>
          </a:bodyPr>
          <a:lstStyle/>
          <a:p>
            <a:pPr algn="ctr">
              <a:spcAft>
                <a:spcPts val="600"/>
              </a:spcAft>
            </a:pPr>
            <a:r>
              <a:rPr sz="1800" b="0">
                <a:solidFill>
                  <a:srgbClr val="1B1B1B"/>
                </a:solidFill>
              </a:rPr>
              <a:t>of pooled vegetable samples were over residue limits.</a:t>
            </a:r>
          </a:p>
        </p:txBody>
      </p:sp>
      <p:sp>
        <p:nvSpPr>
          <p:cNvPr id="12" name="Rounded Rectangle 11"/>
          <p:cNvSpPr/>
          <p:nvPr/>
        </p:nvSpPr>
        <p:spPr>
          <a:xfrm>
            <a:off x="8046719" y="1554480"/>
            <a:ext cx="3566160" cy="301752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3" name="TextBox 12"/>
          <p:cNvSpPr txBox="1"/>
          <p:nvPr/>
        </p:nvSpPr>
        <p:spPr>
          <a:xfrm>
            <a:off x="8229599" y="1783080"/>
            <a:ext cx="3200400" cy="914400"/>
          </a:xfrm>
          <a:prstGeom prst="rect">
            <a:avLst/>
          </a:prstGeom>
          <a:noFill/>
        </p:spPr>
        <p:txBody>
          <a:bodyPr wrap="square">
            <a:spAutoFit/>
          </a:bodyPr>
          <a:lstStyle/>
          <a:p>
            <a:pPr algn="ctr">
              <a:spcAft>
                <a:spcPts val="600"/>
              </a:spcAft>
            </a:pPr>
            <a:r>
              <a:rPr sz="4400" b="1">
                <a:solidFill>
                  <a:srgbClr val="1B5E20"/>
                </a:solidFill>
              </a:rPr>
              <a:t>92,094</a:t>
            </a:r>
          </a:p>
        </p:txBody>
      </p:sp>
      <p:sp>
        <p:nvSpPr>
          <p:cNvPr id="14" name="TextBox 13"/>
          <p:cNvSpPr txBox="1"/>
          <p:nvPr/>
        </p:nvSpPr>
        <p:spPr>
          <a:xfrm>
            <a:off x="8275319" y="2880360"/>
            <a:ext cx="3108960" cy="1554480"/>
          </a:xfrm>
          <a:prstGeom prst="rect">
            <a:avLst/>
          </a:prstGeom>
          <a:noFill/>
        </p:spPr>
        <p:txBody>
          <a:bodyPr wrap="square">
            <a:spAutoFit/>
          </a:bodyPr>
          <a:lstStyle/>
          <a:p>
            <a:pPr algn="ctr">
              <a:spcAft>
                <a:spcPts val="600"/>
              </a:spcAft>
            </a:pPr>
            <a:r>
              <a:rPr sz="1800" b="0">
                <a:solidFill>
                  <a:srgbClr val="1B1B1B"/>
                </a:solidFill>
              </a:rPr>
              <a:t>calls reached the Krishi Call Centre 16123 in one year (July 2025 to June 2026): farmers do ask for help.</a:t>
            </a:r>
          </a:p>
        </p:txBody>
      </p:sp>
      <p:sp>
        <p:nvSpPr>
          <p:cNvPr id="15" name="TextBox 14"/>
          <p:cNvSpPr txBox="1"/>
          <p:nvPr/>
        </p:nvSpPr>
        <p:spPr>
          <a:xfrm>
            <a:off x="548640" y="5029200"/>
            <a:ext cx="11064240" cy="640080"/>
          </a:xfrm>
          <a:prstGeom prst="rect">
            <a:avLst/>
          </a:prstGeom>
          <a:noFill/>
        </p:spPr>
        <p:txBody>
          <a:bodyPr wrap="square">
            <a:spAutoFit/>
          </a:bodyPr>
          <a:lstStyle/>
          <a:p>
            <a:pPr algn="ctr">
              <a:spcAft>
                <a:spcPts val="600"/>
              </a:spcAft>
            </a:pPr>
            <a:r>
              <a:rPr sz="2600" b="1">
                <a:solidFill>
                  <a:srgbClr val="2E7D32"/>
                </a:solidFill>
              </a:rPr>
              <a:t>Kom Bish answers one question first: is a spray needed at 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spcAft>
                <a:spcPts val="600"/>
              </a:spcAft>
            </a:pPr>
            <a:r>
              <a:rPr sz="3000" b="1">
                <a:solidFill>
                  <a:srgbClr val="1B5E20"/>
                </a:solidFill>
              </a:rPr>
              <a:t>One photo in, one honest answer out.</a:t>
            </a:r>
          </a:p>
        </p:txBody>
      </p:sp>
      <p:sp>
        <p:nvSpPr>
          <p:cNvPr id="3" name="Rectangle 2"/>
          <p:cNvSpPr/>
          <p:nvPr/>
        </p:nvSpPr>
        <p:spPr>
          <a:xfrm>
            <a:off x="548640" y="1115568"/>
            <a:ext cx="1106424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0241280" cy="365760"/>
          </a:xfrm>
          <a:prstGeom prst="rect">
            <a:avLst/>
          </a:prstGeom>
          <a:noFill/>
        </p:spPr>
        <p:txBody>
          <a:bodyPr wrap="square">
            <a:spAutoFit/>
          </a:bodyPr>
          <a:lstStyle/>
          <a:p>
            <a:pPr>
              <a:spcAft>
                <a:spcPts val="600"/>
              </a:spcAft>
            </a:pPr>
            <a:r>
              <a:rPr sz="1000" b="0">
                <a:solidFill>
                  <a:srgbClr val="555555"/>
                </a:solidFill>
              </a:rPr>
              <a:t>Screens from the live app in Bangla, 12 Oct 2026. Sample leaf images: RiceLeafBD test split and Dhan-Shomadhan held-out set (CC BY 4.0).</a:t>
            </a:r>
          </a:p>
        </p:txBody>
      </p:sp>
      <p:sp>
        <p:nvSpPr>
          <p:cNvPr id="5" name="TextBox 4"/>
          <p:cNvSpPr txBox="1"/>
          <p:nvPr/>
        </p:nvSpPr>
        <p:spPr>
          <a:xfrm>
            <a:off x="10881360" y="6400800"/>
            <a:ext cx="777240" cy="365760"/>
          </a:xfrm>
          <a:prstGeom prst="rect">
            <a:avLst/>
          </a:prstGeom>
          <a:noFill/>
        </p:spPr>
        <p:txBody>
          <a:bodyPr wrap="square">
            <a:spAutoFit/>
          </a:bodyPr>
          <a:lstStyle/>
          <a:p>
            <a:pPr algn="r">
              <a:spcAft>
                <a:spcPts val="600"/>
              </a:spcAft>
            </a:pPr>
            <a:r>
              <a:rPr sz="1000" b="0">
                <a:solidFill>
                  <a:srgbClr val="555555"/>
                </a:solidFill>
              </a:rPr>
              <a:t>3 / 8</a:t>
            </a:r>
          </a:p>
        </p:txBody>
      </p:sp>
      <p:pic>
        <p:nvPicPr>
          <p:cNvPr id="6" name="Picture 5" descr="02_photo.png"/>
          <p:cNvPicPr>
            <a:picLocks noChangeAspect="1"/>
          </p:cNvPicPr>
          <p:nvPr/>
        </p:nvPicPr>
        <p:blipFill>
          <a:blip r:embed="rId2"/>
          <a:stretch>
            <a:fillRect/>
          </a:stretch>
        </p:blipFill>
        <p:spPr>
          <a:xfrm>
            <a:off x="960120" y="1298448"/>
            <a:ext cx="1774149" cy="3703320"/>
          </a:xfrm>
          <a:prstGeom prst="rect">
            <a:avLst/>
          </a:prstGeom>
          <a:ln w="9525">
            <a:solidFill>
              <a:srgbClr val="BBBBBB"/>
            </a:solidFill>
          </a:ln>
        </p:spPr>
      </p:pic>
      <p:sp>
        <p:nvSpPr>
          <p:cNvPr id="7" name="TextBox 6"/>
          <p:cNvSpPr txBox="1"/>
          <p:nvPr/>
        </p:nvSpPr>
        <p:spPr>
          <a:xfrm>
            <a:off x="498454" y="5074920"/>
            <a:ext cx="2697480" cy="914400"/>
          </a:xfrm>
          <a:prstGeom prst="rect">
            <a:avLst/>
          </a:prstGeom>
          <a:noFill/>
        </p:spPr>
        <p:txBody>
          <a:bodyPr wrap="square">
            <a:spAutoFit/>
          </a:bodyPr>
          <a:lstStyle/>
          <a:p>
            <a:pPr algn="ctr">
              <a:spcAft>
                <a:spcPts val="600"/>
              </a:spcAft>
            </a:pPr>
            <a:r>
              <a:rPr sz="1200" b="0">
                <a:solidFill>
                  <a:srgbClr val="1B1B1B"/>
                </a:solidFill>
              </a:rPr>
              <a:t>1. The farmer agrees to the consent text and gives a close-up photo of one leaf.</a:t>
            </a:r>
          </a:p>
        </p:txBody>
      </p:sp>
      <p:pic>
        <p:nvPicPr>
          <p:cNvPr id="8" name="Picture 7" descr="03_blb_question.png"/>
          <p:cNvPicPr>
            <a:picLocks noChangeAspect="1"/>
          </p:cNvPicPr>
          <p:nvPr/>
        </p:nvPicPr>
        <p:blipFill>
          <a:blip r:embed="rId3"/>
          <a:stretch>
            <a:fillRect/>
          </a:stretch>
        </p:blipFill>
        <p:spPr>
          <a:xfrm>
            <a:off x="3794760" y="1298448"/>
            <a:ext cx="1774149" cy="3703320"/>
          </a:xfrm>
          <a:prstGeom prst="rect">
            <a:avLst/>
          </a:prstGeom>
          <a:ln w="9525">
            <a:solidFill>
              <a:srgbClr val="BBBBBB"/>
            </a:solidFill>
          </a:ln>
        </p:spPr>
      </p:pic>
      <p:sp>
        <p:nvSpPr>
          <p:cNvPr id="9" name="TextBox 8"/>
          <p:cNvSpPr txBox="1"/>
          <p:nvPr/>
        </p:nvSpPr>
        <p:spPr>
          <a:xfrm>
            <a:off x="3333094" y="5074920"/>
            <a:ext cx="2697480" cy="914400"/>
          </a:xfrm>
          <a:prstGeom prst="rect">
            <a:avLst/>
          </a:prstGeom>
          <a:noFill/>
        </p:spPr>
        <p:txBody>
          <a:bodyPr wrap="square">
            <a:spAutoFit/>
          </a:bodyPr>
          <a:lstStyle/>
          <a:p>
            <a:pPr algn="ctr">
              <a:spcAft>
                <a:spcPts val="600"/>
              </a:spcAft>
            </a:pPr>
            <a:r>
              <a:rPr sz="1200" b="0">
                <a:solidFill>
                  <a:srgbClr val="1B1B1B"/>
                </a:solidFill>
              </a:rPr>
              <a:t>2. Before a disease answer the app asks: “Do the yellow or straw-coloured patches start at the leaf tip or edge and run down along the edge?”</a:t>
            </a:r>
          </a:p>
        </p:txBody>
      </p:sp>
      <p:pic>
        <p:nvPicPr>
          <p:cNvPr id="10" name="Picture 9" descr="04_blb_answer.png"/>
          <p:cNvPicPr>
            <a:picLocks noChangeAspect="1"/>
          </p:cNvPicPr>
          <p:nvPr/>
        </p:nvPicPr>
        <p:blipFill>
          <a:blip r:embed="rId4"/>
          <a:stretch>
            <a:fillRect/>
          </a:stretch>
        </p:blipFill>
        <p:spPr>
          <a:xfrm>
            <a:off x="6629400" y="1298448"/>
            <a:ext cx="1774149" cy="3703320"/>
          </a:xfrm>
          <a:prstGeom prst="rect">
            <a:avLst/>
          </a:prstGeom>
          <a:ln w="9525">
            <a:solidFill>
              <a:srgbClr val="BBBBBB"/>
            </a:solidFill>
          </a:ln>
        </p:spPr>
      </p:pic>
      <p:sp>
        <p:nvSpPr>
          <p:cNvPr id="11" name="TextBox 10"/>
          <p:cNvSpPr txBox="1"/>
          <p:nvPr/>
        </p:nvSpPr>
        <p:spPr>
          <a:xfrm>
            <a:off x="6167734" y="5074920"/>
            <a:ext cx="2697480" cy="914400"/>
          </a:xfrm>
          <a:prstGeom prst="rect">
            <a:avLst/>
          </a:prstGeom>
          <a:noFill/>
        </p:spPr>
        <p:txBody>
          <a:bodyPr wrap="square">
            <a:spAutoFit/>
          </a:bodyPr>
          <a:lstStyle/>
          <a:p>
            <a:pPr algn="ctr">
              <a:spcAft>
                <a:spcPts val="600"/>
              </a:spcAft>
            </a:pPr>
            <a:r>
              <a:rPr sz="1200" b="0">
                <a:solidFill>
                  <a:srgbClr val="1B1B1B"/>
                </a:solidFill>
              </a:rPr>
              <a:t>3. On “yes”: “No insecticide needed, fix the fertiliser”, as reviewed text and an audio clip (computer-generated voice).</a:t>
            </a:r>
          </a:p>
        </p:txBody>
      </p:sp>
      <p:pic>
        <p:nvPicPr>
          <p:cNvPr id="12" name="Picture 11" descr="07_referral.png"/>
          <p:cNvPicPr>
            <a:picLocks noChangeAspect="1"/>
          </p:cNvPicPr>
          <p:nvPr/>
        </p:nvPicPr>
        <p:blipFill>
          <a:blip r:embed="rId5"/>
          <a:stretch>
            <a:fillRect/>
          </a:stretch>
        </p:blipFill>
        <p:spPr>
          <a:xfrm>
            <a:off x="9464040" y="1298448"/>
            <a:ext cx="1774149" cy="3703320"/>
          </a:xfrm>
          <a:prstGeom prst="rect">
            <a:avLst/>
          </a:prstGeom>
          <a:ln w="9525">
            <a:solidFill>
              <a:srgbClr val="BBBBBB"/>
            </a:solidFill>
          </a:ln>
        </p:spPr>
      </p:pic>
      <p:sp>
        <p:nvSpPr>
          <p:cNvPr id="13" name="TextBox 12"/>
          <p:cNvSpPr txBox="1"/>
          <p:nvPr/>
        </p:nvSpPr>
        <p:spPr>
          <a:xfrm>
            <a:off x="9002374" y="5074920"/>
            <a:ext cx="2697480" cy="914400"/>
          </a:xfrm>
          <a:prstGeom prst="rect">
            <a:avLst/>
          </a:prstGeom>
          <a:noFill/>
        </p:spPr>
        <p:txBody>
          <a:bodyPr wrap="square">
            <a:spAutoFit/>
          </a:bodyPr>
          <a:lstStyle/>
          <a:p>
            <a:pPr algn="ctr">
              <a:spcAft>
                <a:spcPts val="600"/>
              </a:spcAft>
            </a:pPr>
            <a:r>
              <a:rPr sz="1200" b="0">
                <a:solidFill>
                  <a:srgbClr val="1B1B1B"/>
                </a:solidFill>
              </a:rPr>
              <a:t>4. When it is not sure: “I can't be sure from this photo. Krishi Call Centre: 16123.”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spcAft>
                <a:spcPts val="600"/>
              </a:spcAft>
            </a:pPr>
            <a:r>
              <a:rPr sz="3000" b="1">
                <a:solidFill>
                  <a:srgbClr val="1B5E20"/>
                </a:solidFill>
              </a:rPr>
              <a:t>Safe by design: it refers what it doesn't know.</a:t>
            </a:r>
          </a:p>
        </p:txBody>
      </p:sp>
      <p:sp>
        <p:nvSpPr>
          <p:cNvPr id="3" name="Rectangle 2"/>
          <p:cNvSpPr/>
          <p:nvPr/>
        </p:nvSpPr>
        <p:spPr>
          <a:xfrm>
            <a:off x="548640" y="1115568"/>
            <a:ext cx="1106424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0241280" cy="365760"/>
          </a:xfrm>
          <a:prstGeom prst="rect">
            <a:avLst/>
          </a:prstGeom>
          <a:noFill/>
        </p:spPr>
        <p:txBody>
          <a:bodyPr wrap="square">
            <a:spAutoFit/>
          </a:bodyPr>
          <a:lstStyle/>
          <a:p>
            <a:pPr>
              <a:spcAft>
                <a:spcPts val="600"/>
              </a:spcAft>
            </a:pPr>
            <a:r>
              <a:rPr sz="1000" b="0">
                <a:solidFill>
                  <a:srgbClr val="555555"/>
                </a:solidFill>
              </a:rPr>
              <a:t>Thresholds: labels.json in the model repo, revision v2.1. Rules and tests: kombish/rules.py, data/rules.csv, tests/test_rules.py</a:t>
            </a:r>
          </a:p>
        </p:txBody>
      </p:sp>
      <p:sp>
        <p:nvSpPr>
          <p:cNvPr id="5" name="TextBox 4"/>
          <p:cNvSpPr txBox="1"/>
          <p:nvPr/>
        </p:nvSpPr>
        <p:spPr>
          <a:xfrm>
            <a:off x="10881360" y="6400800"/>
            <a:ext cx="777240" cy="365760"/>
          </a:xfrm>
          <a:prstGeom prst="rect">
            <a:avLst/>
          </a:prstGeom>
          <a:noFill/>
        </p:spPr>
        <p:txBody>
          <a:bodyPr wrap="square">
            <a:spAutoFit/>
          </a:bodyPr>
          <a:lstStyle/>
          <a:p>
            <a:pPr algn="r">
              <a:spcAft>
                <a:spcPts val="600"/>
              </a:spcAft>
            </a:pPr>
            <a:r>
              <a:rPr sz="1000" b="0">
                <a:solidFill>
                  <a:srgbClr val="555555"/>
                </a:solidFill>
              </a:rPr>
              <a:t>4 / 8</a:t>
            </a:r>
          </a:p>
        </p:txBody>
      </p:sp>
      <p:sp>
        <p:nvSpPr>
          <p:cNvPr id="6" name="Rounded Rectangle 5"/>
          <p:cNvSpPr/>
          <p:nvPr/>
        </p:nvSpPr>
        <p:spPr>
          <a:xfrm>
            <a:off x="548640" y="1371600"/>
            <a:ext cx="2468880" cy="768096"/>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B1B1B"/>
                </a:solidFill>
              </a:rPr>
              <a:t>1. Confidence gate</a:t>
            </a:r>
          </a:p>
        </p:txBody>
      </p:sp>
      <p:sp>
        <p:nvSpPr>
          <p:cNvPr id="7" name="TextBox 6"/>
          <p:cNvSpPr txBox="1"/>
          <p:nvPr/>
        </p:nvSpPr>
        <p:spPr>
          <a:xfrm>
            <a:off x="3154680" y="1408176"/>
            <a:ext cx="5257800" cy="822960"/>
          </a:xfrm>
          <a:prstGeom prst="rect">
            <a:avLst/>
          </a:prstGeom>
          <a:noFill/>
        </p:spPr>
        <p:txBody>
          <a:bodyPr wrap="square">
            <a:spAutoFit/>
          </a:bodyPr>
          <a:lstStyle/>
          <a:p>
            <a:pPr>
              <a:spcAft>
                <a:spcPts val="600"/>
              </a:spcAft>
            </a:pPr>
            <a:r>
              <a:rPr sz="1400" b="0">
                <a:solidFill>
                  <a:srgbClr val="1B1B1B"/>
                </a:solidFill>
              </a:rPr>
              <a:t>Below 0.91, or with a close second guess, the app refers the farmer.</a:t>
            </a:r>
          </a:p>
        </p:txBody>
      </p:sp>
      <p:sp>
        <p:nvSpPr>
          <p:cNvPr id="8" name="Rounded Rectangle 7"/>
          <p:cNvSpPr/>
          <p:nvPr/>
        </p:nvSpPr>
        <p:spPr>
          <a:xfrm>
            <a:off x="548640" y="2267712"/>
            <a:ext cx="2468880" cy="768096"/>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B1B1B"/>
                </a:solidFill>
              </a:rPr>
              <a:t>2. Stricter gate per disease</a:t>
            </a:r>
          </a:p>
        </p:txBody>
      </p:sp>
      <p:sp>
        <p:nvSpPr>
          <p:cNvPr id="9" name="TextBox 8"/>
          <p:cNvSpPr txBox="1"/>
          <p:nvPr/>
        </p:nvSpPr>
        <p:spPr>
          <a:xfrm>
            <a:off x="3154680" y="2304288"/>
            <a:ext cx="5257800" cy="822960"/>
          </a:xfrm>
          <a:prstGeom prst="rect">
            <a:avLst/>
          </a:prstGeom>
          <a:noFill/>
        </p:spPr>
        <p:txBody>
          <a:bodyPr wrap="square">
            <a:spAutoFit/>
          </a:bodyPr>
          <a:lstStyle/>
          <a:p>
            <a:pPr>
              <a:spcAft>
                <a:spcPts val="600"/>
              </a:spcAft>
            </a:pPr>
            <a:r>
              <a:rPr sz="1400" b="0">
                <a:solidFill>
                  <a:srgbClr val="1B1B1B"/>
                </a:solidFill>
              </a:rPr>
              <a:t>Bacterial leaf blight needs 0.955, blast 0.999. Chosen on validation data only.</a:t>
            </a:r>
          </a:p>
        </p:txBody>
      </p:sp>
      <p:sp>
        <p:nvSpPr>
          <p:cNvPr id="10" name="Rounded Rectangle 9"/>
          <p:cNvSpPr/>
          <p:nvPr/>
        </p:nvSpPr>
        <p:spPr>
          <a:xfrm>
            <a:off x="548640" y="3163824"/>
            <a:ext cx="2468880" cy="768096"/>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B1B1B"/>
                </a:solidFill>
              </a:rPr>
              <a:t>3. The farmer's own “yes”</a:t>
            </a:r>
          </a:p>
        </p:txBody>
      </p:sp>
      <p:sp>
        <p:nvSpPr>
          <p:cNvPr id="11" name="TextBox 10"/>
          <p:cNvSpPr txBox="1"/>
          <p:nvPr/>
        </p:nvSpPr>
        <p:spPr>
          <a:xfrm>
            <a:off x="3154680" y="3200400"/>
            <a:ext cx="5257800" cy="822960"/>
          </a:xfrm>
          <a:prstGeom prst="rect">
            <a:avLst/>
          </a:prstGeom>
          <a:noFill/>
        </p:spPr>
        <p:txBody>
          <a:bodyPr wrap="square">
            <a:spAutoFit/>
          </a:bodyPr>
          <a:lstStyle/>
          <a:p>
            <a:pPr>
              <a:spcAft>
                <a:spcPts val="600"/>
              </a:spcAft>
            </a:pPr>
            <a:r>
              <a:rPr sz="1400" b="0">
                <a:solidFill>
                  <a:srgbClr val="1B1B1B"/>
                </a:solidFill>
              </a:rPr>
              <a:t>Before the BLB answer and before the blast (spray) answer, the app asks one question about what is on the leaf. “No” or “not sure” gives a referral.</a:t>
            </a:r>
          </a:p>
        </p:txBody>
      </p:sp>
      <p:sp>
        <p:nvSpPr>
          <p:cNvPr id="12" name="Rounded Rectangle 11"/>
          <p:cNvSpPr/>
          <p:nvPr/>
        </p:nvSpPr>
        <p:spPr>
          <a:xfrm>
            <a:off x="548640" y="4059935"/>
            <a:ext cx="2468880" cy="768096"/>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B1B1B"/>
                </a:solidFill>
              </a:rPr>
              <a:t>4. Closed rule table</a:t>
            </a:r>
          </a:p>
        </p:txBody>
      </p:sp>
      <p:sp>
        <p:nvSpPr>
          <p:cNvPr id="13" name="TextBox 12"/>
          <p:cNvSpPr txBox="1"/>
          <p:nvPr/>
        </p:nvSpPr>
        <p:spPr>
          <a:xfrm>
            <a:off x="3154680" y="4096511"/>
            <a:ext cx="5257800" cy="822960"/>
          </a:xfrm>
          <a:prstGeom prst="rect">
            <a:avLst/>
          </a:prstGeom>
          <a:noFill/>
        </p:spPr>
        <p:txBody>
          <a:bodyPr wrap="square">
            <a:spAutoFit/>
          </a:bodyPr>
          <a:lstStyle/>
          <a:p>
            <a:pPr>
              <a:spcAft>
                <a:spcPts val="600"/>
              </a:spcAft>
            </a:pPr>
            <a:r>
              <a:rPr sz="1400" b="0">
                <a:solidFill>
                  <a:srgbClr val="1B1B1B"/>
                </a:solidFill>
              </a:rPr>
              <a:t>Code picks the answer. Every sentence is pre-written and reviewed. No brands, no doses.</a:t>
            </a:r>
          </a:p>
        </p:txBody>
      </p:sp>
      <p:sp>
        <p:nvSpPr>
          <p:cNvPr id="14" name="TextBox 13"/>
          <p:cNvSpPr txBox="1"/>
          <p:nvPr/>
        </p:nvSpPr>
        <p:spPr>
          <a:xfrm>
            <a:off x="548640" y="4956048"/>
            <a:ext cx="7863840" cy="914400"/>
          </a:xfrm>
          <a:prstGeom prst="rect">
            <a:avLst/>
          </a:prstGeom>
          <a:noFill/>
        </p:spPr>
        <p:txBody>
          <a:bodyPr wrap="square">
            <a:spAutoFit/>
          </a:bodyPr>
          <a:lstStyle/>
          <a:p>
            <a:pPr>
              <a:spcAft>
                <a:spcPts val="200"/>
              </a:spcAft>
            </a:pPr>
            <a:r>
              <a:rPr sz="1200" b="0">
                <a:solidFill>
                  <a:srgbClr val="555555"/>
                </a:solidFill>
              </a:rPr>
              <a:t>The two questions (shown in Bangla):</a:t>
            </a:r>
          </a:p>
          <a:p>
            <a:pPr>
              <a:spcAft>
                <a:spcPts val="200"/>
              </a:spcAft>
            </a:pPr>
            <a:r>
              <a:rPr sz="1200" b="0">
                <a:solidFill>
                  <a:srgbClr val="555555"/>
                </a:solidFill>
              </a:rPr>
              <a:t>BLB: “Do the yellow or straw-coloured patches start at the leaf tip or edge and run down along the edge?”</a:t>
            </a:r>
          </a:p>
          <a:p>
            <a:pPr>
              <a:spcAft>
                <a:spcPts val="200"/>
              </a:spcAft>
            </a:pPr>
            <a:r>
              <a:rPr sz="1200" b="0">
                <a:solidFill>
                  <a:srgbClr val="555555"/>
                </a:solidFill>
              </a:rPr>
              <a:t>Blast: “Are the spots on the leaf long like an eye, narrow at both ends, ash-grey in the middle and brown at the edge?”</a:t>
            </a:r>
          </a:p>
        </p:txBody>
      </p:sp>
      <p:sp>
        <p:nvSpPr>
          <p:cNvPr id="15" name="TextBox 14"/>
          <p:cNvSpPr txBox="1"/>
          <p:nvPr/>
        </p:nvSpPr>
        <p:spPr>
          <a:xfrm>
            <a:off x="548640" y="5870448"/>
            <a:ext cx="7863840" cy="502920"/>
          </a:xfrm>
          <a:prstGeom prst="rect">
            <a:avLst/>
          </a:prstGeom>
          <a:noFill/>
        </p:spPr>
        <p:txBody>
          <a:bodyPr wrap="square">
            <a:spAutoFit/>
          </a:bodyPr>
          <a:lstStyle/>
          <a:p>
            <a:pPr>
              <a:spcAft>
                <a:spcPts val="600"/>
              </a:spcAft>
            </a:pPr>
            <a:r>
              <a:rPr sz="1500" b="1">
                <a:solidFill>
                  <a:srgbClr val="2E7D32"/>
                </a:solidFill>
              </a:rPr>
              <a:t>Wrong “spray correctly” advice in all our tests: 0, even if the farmer says “yes” to every question.</a:t>
            </a:r>
          </a:p>
        </p:txBody>
      </p:sp>
      <p:pic>
        <p:nvPicPr>
          <p:cNvPr id="16" name="Picture 15" descr="05_blast_question.png"/>
          <p:cNvPicPr>
            <a:picLocks noChangeAspect="1"/>
          </p:cNvPicPr>
          <p:nvPr/>
        </p:nvPicPr>
        <p:blipFill>
          <a:blip r:embed="rId2"/>
          <a:stretch>
            <a:fillRect/>
          </a:stretch>
        </p:blipFill>
        <p:spPr>
          <a:xfrm>
            <a:off x="9098280" y="1298448"/>
            <a:ext cx="2080792" cy="4343400"/>
          </a:xfrm>
          <a:prstGeom prst="rect">
            <a:avLst/>
          </a:prstGeom>
          <a:ln w="9525">
            <a:solidFill>
              <a:srgbClr val="BBBBBB"/>
            </a:solidFill>
          </a:ln>
        </p:spPr>
      </p:pic>
      <p:sp>
        <p:nvSpPr>
          <p:cNvPr id="17" name="TextBox 16"/>
          <p:cNvSpPr txBox="1"/>
          <p:nvPr/>
        </p:nvSpPr>
        <p:spPr>
          <a:xfrm>
            <a:off x="8675635" y="5715000"/>
            <a:ext cx="2926080" cy="914400"/>
          </a:xfrm>
          <a:prstGeom prst="rect">
            <a:avLst/>
          </a:prstGeom>
          <a:noFill/>
        </p:spPr>
        <p:txBody>
          <a:bodyPr wrap="square">
            <a:spAutoFit/>
          </a:bodyPr>
          <a:lstStyle/>
          <a:p>
            <a:pPr algn="ctr">
              <a:spcAft>
                <a:spcPts val="600"/>
              </a:spcAft>
            </a:pPr>
            <a:r>
              <a:rPr sz="1200" b="0">
                <a:solidFill>
                  <a:srgbClr val="1B1B1B"/>
                </a:solidFill>
              </a:rPr>
              <a:t>The lesion-shape question, asked before any spray answer (live 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spcAft>
                <a:spcPts val="600"/>
              </a:spcAft>
            </a:pPr>
            <a:r>
              <a:rPr sz="3000" b="1">
                <a:solidFill>
                  <a:srgbClr val="1B5E20"/>
                </a:solidFill>
              </a:rPr>
              <a:t>How it works: what is real today and what is planned.</a:t>
            </a:r>
          </a:p>
        </p:txBody>
      </p:sp>
      <p:sp>
        <p:nvSpPr>
          <p:cNvPr id="3" name="Rectangle 2"/>
          <p:cNvSpPr/>
          <p:nvPr/>
        </p:nvSpPr>
        <p:spPr>
          <a:xfrm>
            <a:off x="548640" y="1115568"/>
            <a:ext cx="1106424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0241280" cy="365760"/>
          </a:xfrm>
          <a:prstGeom prst="rect">
            <a:avLst/>
          </a:prstGeom>
          <a:noFill/>
        </p:spPr>
        <p:txBody>
          <a:bodyPr wrap="square">
            <a:spAutoFit/>
          </a:bodyPr>
          <a:lstStyle/>
          <a:p>
            <a:pPr>
              <a:spcAft>
                <a:spcPts val="600"/>
              </a:spcAft>
            </a:pPr>
            <a:r>
              <a:rPr sz="1000" b="0">
                <a:solidFill>
                  <a:srgbClr val="555555"/>
                </a:solidFill>
              </a:rPr>
              <a:t>Code: kombish/classifier.py, kombish/rules.py, kombish/logging_store.py, data/rules.csv, data/clips.csv</a:t>
            </a:r>
          </a:p>
        </p:txBody>
      </p:sp>
      <p:sp>
        <p:nvSpPr>
          <p:cNvPr id="5" name="TextBox 4"/>
          <p:cNvSpPr txBox="1"/>
          <p:nvPr/>
        </p:nvSpPr>
        <p:spPr>
          <a:xfrm>
            <a:off x="10881360" y="6400800"/>
            <a:ext cx="777240" cy="365760"/>
          </a:xfrm>
          <a:prstGeom prst="rect">
            <a:avLst/>
          </a:prstGeom>
          <a:noFill/>
        </p:spPr>
        <p:txBody>
          <a:bodyPr wrap="square">
            <a:spAutoFit/>
          </a:bodyPr>
          <a:lstStyle/>
          <a:p>
            <a:pPr algn="r">
              <a:spcAft>
                <a:spcPts val="600"/>
              </a:spcAft>
            </a:pPr>
            <a:r>
              <a:rPr sz="1000" b="0">
                <a:solidFill>
                  <a:srgbClr val="555555"/>
                </a:solidFill>
              </a:rPr>
              <a:t>5 / 8</a:t>
            </a:r>
          </a:p>
        </p:txBody>
      </p:sp>
      <p:sp>
        <p:nvSpPr>
          <p:cNvPr id="6" name="Rounded Rectangle 5"/>
          <p:cNvSpPr/>
          <p:nvPr/>
        </p:nvSpPr>
        <p:spPr>
          <a:xfrm>
            <a:off x="548640" y="1463040"/>
            <a:ext cx="1371600" cy="105156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a:solidFill>
                  <a:srgbClr val="1B1B1B"/>
                </a:solidFill>
              </a:rPr>
              <a:t>Consent</a:t>
            </a:r>
          </a:p>
        </p:txBody>
      </p:sp>
      <p:sp>
        <p:nvSpPr>
          <p:cNvPr id="7" name="Right Arrow 6"/>
          <p:cNvSpPr/>
          <p:nvPr/>
        </p:nvSpPr>
        <p:spPr>
          <a:xfrm>
            <a:off x="1920240" y="1847088"/>
            <a:ext cx="219456" cy="274320"/>
          </a:xfrm>
          <a:prstGeom prst="right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139696" y="1463040"/>
            <a:ext cx="1371600" cy="105156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a:solidFill>
                  <a:srgbClr val="1B1B1B"/>
                </a:solidFill>
              </a:rPr>
              <a:t>Photo of one leaf</a:t>
            </a:r>
          </a:p>
        </p:txBody>
      </p:sp>
      <p:sp>
        <p:nvSpPr>
          <p:cNvPr id="9" name="Right Arrow 8"/>
          <p:cNvSpPr/>
          <p:nvPr/>
        </p:nvSpPr>
        <p:spPr>
          <a:xfrm>
            <a:off x="3511296" y="1847088"/>
            <a:ext cx="219456" cy="274320"/>
          </a:xfrm>
          <a:prstGeom prst="right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730752" y="1463040"/>
            <a:ext cx="1371600" cy="105156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a:solidFill>
                  <a:srgbClr val="1B1B1B"/>
                </a:solidFill>
              </a:rPr>
              <a:t>ONNX classifier</a:t>
            </a:r>
          </a:p>
          <a:p>
            <a:pPr algn="ctr"/>
            <a:r>
              <a:rPr sz="1200" b="0">
                <a:solidFill>
                  <a:srgbClr val="1B1B1B"/>
                </a:solidFill>
              </a:rPr>
              <a:t>MobileNetV3, 4 classes, CPU</a:t>
            </a:r>
          </a:p>
        </p:txBody>
      </p:sp>
      <p:sp>
        <p:nvSpPr>
          <p:cNvPr id="11" name="Right Arrow 10"/>
          <p:cNvSpPr/>
          <p:nvPr/>
        </p:nvSpPr>
        <p:spPr>
          <a:xfrm>
            <a:off x="5102352" y="1847088"/>
            <a:ext cx="219456" cy="274320"/>
          </a:xfrm>
          <a:prstGeom prst="right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321807" y="1463040"/>
            <a:ext cx="1371600" cy="105156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B1B1B"/>
                </a:solidFill>
              </a:rPr>
              <a:t>Confidence gates</a:t>
            </a:r>
          </a:p>
        </p:txBody>
      </p:sp>
      <p:sp>
        <p:nvSpPr>
          <p:cNvPr id="13" name="Right Arrow 12"/>
          <p:cNvSpPr/>
          <p:nvPr/>
        </p:nvSpPr>
        <p:spPr>
          <a:xfrm>
            <a:off x="6693407" y="1847088"/>
            <a:ext cx="219456" cy="274320"/>
          </a:xfrm>
          <a:prstGeom prst="right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912864" y="1463040"/>
            <a:ext cx="1371600" cy="105156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a:solidFill>
                  <a:srgbClr val="1B1B1B"/>
                </a:solidFill>
              </a:rPr>
              <a:t>Rule engine</a:t>
            </a:r>
          </a:p>
          <a:p>
            <a:pPr algn="ctr"/>
            <a:r>
              <a:rPr sz="1200" b="0">
                <a:solidFill>
                  <a:srgbClr val="1B1B1B"/>
                </a:solidFill>
              </a:rPr>
              <a:t>pure Python</a:t>
            </a:r>
          </a:p>
        </p:txBody>
      </p:sp>
      <p:sp>
        <p:nvSpPr>
          <p:cNvPr id="15" name="Right Arrow 14"/>
          <p:cNvSpPr/>
          <p:nvPr/>
        </p:nvSpPr>
        <p:spPr>
          <a:xfrm>
            <a:off x="8284463" y="1847088"/>
            <a:ext cx="219456" cy="274320"/>
          </a:xfrm>
          <a:prstGeom prst="right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503919" y="1463040"/>
            <a:ext cx="1371600" cy="105156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B1B1B"/>
                </a:solidFill>
              </a:rPr>
              <a:t>Farmer's “yes”</a:t>
            </a:r>
          </a:p>
          <a:p>
            <a:pPr algn="ctr"/>
            <a:r>
              <a:rPr sz="1200" b="1">
                <a:solidFill>
                  <a:srgbClr val="1B1B1B"/>
                </a:solidFill>
              </a:rPr>
              <a:t>BLB or blast question</a:t>
            </a:r>
          </a:p>
        </p:txBody>
      </p:sp>
      <p:sp>
        <p:nvSpPr>
          <p:cNvPr id="17" name="Right Arrow 16"/>
          <p:cNvSpPr/>
          <p:nvPr/>
        </p:nvSpPr>
        <p:spPr>
          <a:xfrm>
            <a:off x="9875519" y="1847088"/>
            <a:ext cx="219456" cy="274320"/>
          </a:xfrm>
          <a:prstGeom prst="right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94976" y="1463040"/>
            <a:ext cx="1371600" cy="105156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a:solidFill>
                  <a:srgbClr val="1B1B1B"/>
                </a:solidFill>
              </a:rPr>
              <a:t>Reviewed Bangla text</a:t>
            </a:r>
          </a:p>
          <a:p>
            <a:pPr algn="ctr"/>
            <a:r>
              <a:rPr sz="1200" b="0">
                <a:solidFill>
                  <a:srgbClr val="1B1B1B"/>
                </a:solidFill>
              </a:rPr>
              <a:t>+ audio clip</a:t>
            </a:r>
          </a:p>
        </p:txBody>
      </p:sp>
      <p:sp>
        <p:nvSpPr>
          <p:cNvPr id="19" name="Down Arrow 18"/>
          <p:cNvSpPr/>
          <p:nvPr/>
        </p:nvSpPr>
        <p:spPr>
          <a:xfrm>
            <a:off x="5897879" y="2560320"/>
            <a:ext cx="219456" cy="320040"/>
          </a:xfrm>
          <a:prstGeom prst="down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9079992" y="2560320"/>
            <a:ext cx="219456" cy="320040"/>
          </a:xfrm>
          <a:prstGeom prst="down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846320" y="2926080"/>
            <a:ext cx="4846320" cy="77724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a:solidFill>
                  <a:srgbClr val="1B1B1B"/>
                </a:solidFill>
              </a:rPr>
              <a:t>Low confidence, “no” or “not sure”:</a:t>
            </a:r>
          </a:p>
          <a:p>
            <a:pPr algn="ctr"/>
            <a:r>
              <a:rPr sz="1200" b="0">
                <a:solidFill>
                  <a:srgbClr val="1B1B1B"/>
                </a:solidFill>
              </a:rPr>
              <a:t>referral to the Krishi Call Centre 16123 or an agriculture officer</a:t>
            </a:r>
          </a:p>
        </p:txBody>
      </p:sp>
      <p:sp>
        <p:nvSpPr>
          <p:cNvPr id="22" name="Rounded Rectangle 21"/>
          <p:cNvSpPr/>
          <p:nvPr/>
        </p:nvSpPr>
        <p:spPr>
          <a:xfrm>
            <a:off x="548640" y="2926080"/>
            <a:ext cx="2651760" cy="77724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a:solidFill>
                  <a:srgbClr val="1B1B1B"/>
                </a:solidFill>
              </a:rPr>
              <a:t>Anonymous log (private dataset)</a:t>
            </a:r>
          </a:p>
          <a:p>
            <a:pPr algn="ctr"/>
            <a:r>
              <a:rPr sz="1200" b="0">
                <a:solidFill>
                  <a:srgbClr val="1B1B1B"/>
                </a:solidFill>
              </a:rPr>
              <a:t>no photo, audio, name or number</a:t>
            </a:r>
          </a:p>
        </p:txBody>
      </p:sp>
      <p:sp>
        <p:nvSpPr>
          <p:cNvPr id="23" name="Right Arrow 22"/>
          <p:cNvSpPr/>
          <p:nvPr/>
        </p:nvSpPr>
        <p:spPr>
          <a:xfrm>
            <a:off x="3227832" y="3172968"/>
            <a:ext cx="219456" cy="274320"/>
          </a:xfrm>
          <a:prstGeom prst="right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493008" y="2926080"/>
            <a:ext cx="1143000" cy="77724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a:solidFill>
                  <a:srgbClr val="1B1B1B"/>
                </a:solidFill>
              </a:rPr>
              <a:t>Public</a:t>
            </a:r>
          </a:p>
          <a:p>
            <a:pPr algn="ctr"/>
            <a:r>
              <a:rPr sz="1200" b="0">
                <a:solidFill>
                  <a:srgbClr val="1B1B1B"/>
                </a:solidFill>
              </a:rPr>
              <a:t>counters</a:t>
            </a:r>
          </a:p>
        </p:txBody>
      </p:sp>
      <p:sp>
        <p:nvSpPr>
          <p:cNvPr id="25" name="TextBox 24"/>
          <p:cNvSpPr txBox="1"/>
          <p:nvPr/>
        </p:nvSpPr>
        <p:spPr>
          <a:xfrm>
            <a:off x="548640" y="4023360"/>
            <a:ext cx="7315200" cy="365760"/>
          </a:xfrm>
          <a:prstGeom prst="rect">
            <a:avLst/>
          </a:prstGeom>
          <a:noFill/>
        </p:spPr>
        <p:txBody>
          <a:bodyPr wrap="square">
            <a:spAutoFit/>
          </a:bodyPr>
          <a:lstStyle/>
          <a:p>
            <a:pPr>
              <a:spcAft>
                <a:spcPts val="600"/>
              </a:spcAft>
            </a:pPr>
            <a:r>
              <a:rPr sz="1400" b="1">
                <a:solidFill>
                  <a:srgbClr val="808080"/>
                </a:solidFill>
              </a:rPr>
              <a:t>Planned, not built or not switched on</a:t>
            </a:r>
          </a:p>
        </p:txBody>
      </p:sp>
      <p:sp>
        <p:nvSpPr>
          <p:cNvPr id="26" name="Rounded Rectangle 25"/>
          <p:cNvSpPr/>
          <p:nvPr/>
        </p:nvSpPr>
        <p:spPr>
          <a:xfrm>
            <a:off x="548640" y="4434840"/>
            <a:ext cx="2651760" cy="1005840"/>
          </a:xfrm>
          <a:prstGeom prst="roundRect">
            <a:avLst/>
          </a:prstGeom>
          <a:solidFill>
            <a:srgbClr val="F5F5F5"/>
          </a:solidFill>
          <a:ln w="19050">
            <a:solidFill>
              <a:srgbClr val="8080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B1B1B"/>
                </a:solidFill>
              </a:rPr>
              <a:t>Voice note → fixed symptom list</a:t>
            </a:r>
          </a:p>
          <a:p>
            <a:pPr algn="ctr"/>
            <a:r>
              <a:rPr sz="1200" b="1">
                <a:solidFill>
                  <a:srgbClr val="1B1B1B"/>
                </a:solidFill>
              </a:rPr>
              <a:t>NEXT STEP: code written, switched off until tested</a:t>
            </a:r>
          </a:p>
        </p:txBody>
      </p:sp>
      <p:sp>
        <p:nvSpPr>
          <p:cNvPr id="27" name="Rounded Rectangle 26"/>
          <p:cNvSpPr/>
          <p:nvPr/>
        </p:nvSpPr>
        <p:spPr>
          <a:xfrm>
            <a:off x="3355848" y="4434840"/>
            <a:ext cx="2651760" cy="1005840"/>
          </a:xfrm>
          <a:prstGeom prst="roundRect">
            <a:avLst/>
          </a:prstGeom>
          <a:solidFill>
            <a:srgbClr val="F5F5F5"/>
          </a:solidFill>
          <a:ln w="19050">
            <a:solidFill>
              <a:srgbClr val="8080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a:solidFill>
                  <a:srgbClr val="1B1B1B"/>
                </a:solidFill>
              </a:rPr>
              <a:t>Officer-verified referrals</a:t>
            </a:r>
          </a:p>
          <a:p>
            <a:pPr algn="ctr"/>
            <a:r>
              <a:rPr sz="1200" b="0">
                <a:solidFill>
                  <a:srgbClr val="1B1B1B"/>
                </a:solidFill>
              </a:rPr>
              <a:t>→ local training data (pilot plan)</a:t>
            </a:r>
          </a:p>
        </p:txBody>
      </p:sp>
      <p:sp>
        <p:nvSpPr>
          <p:cNvPr id="28" name="Rounded Rectangle 27"/>
          <p:cNvSpPr/>
          <p:nvPr/>
        </p:nvSpPr>
        <p:spPr>
          <a:xfrm>
            <a:off x="6163055" y="4434840"/>
            <a:ext cx="2651760" cy="1005840"/>
          </a:xfrm>
          <a:prstGeom prst="roundRect">
            <a:avLst/>
          </a:prstGeom>
          <a:solidFill>
            <a:srgbClr val="F5F5F5"/>
          </a:solidFill>
          <a:ln w="19050">
            <a:solidFill>
              <a:srgbClr val="8080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a:solidFill>
                  <a:srgbClr val="1B1B1B"/>
                </a:solidFill>
              </a:rPr>
              <a:t>Telegram, WhatsApp,</a:t>
            </a:r>
          </a:p>
          <a:p>
            <a:pPr algn="ctr"/>
            <a:r>
              <a:rPr sz="1200" b="0">
                <a:solidFill>
                  <a:srgbClr val="1B1B1B"/>
                </a:solidFill>
              </a:rPr>
              <a:t>phone call</a:t>
            </a:r>
          </a:p>
        </p:txBody>
      </p:sp>
      <p:sp>
        <p:nvSpPr>
          <p:cNvPr id="29" name="Rounded Rectangle 28"/>
          <p:cNvSpPr/>
          <p:nvPr/>
        </p:nvSpPr>
        <p:spPr>
          <a:xfrm>
            <a:off x="8970263" y="4434840"/>
            <a:ext cx="2651760" cy="1005840"/>
          </a:xfrm>
          <a:prstGeom prst="roundRect">
            <a:avLst/>
          </a:prstGeom>
          <a:solidFill>
            <a:srgbClr val="F5F5F5"/>
          </a:solidFill>
          <a:ln w="19050">
            <a:solidFill>
              <a:srgbClr val="8080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0">
                <a:solidFill>
                  <a:srgbClr val="1B1B1B"/>
                </a:solidFill>
              </a:rPr>
              <a:t>Human-recorded audio</a:t>
            </a:r>
          </a:p>
          <a:p>
            <a:pPr algn="ctr"/>
            <a:r>
              <a:rPr sz="1200" b="0">
                <a:solidFill>
                  <a:srgbClr val="1B1B1B"/>
                </a:solidFill>
              </a:rPr>
              <a:t>(today: computer-generated voice)</a:t>
            </a:r>
          </a:p>
        </p:txBody>
      </p:sp>
      <p:sp>
        <p:nvSpPr>
          <p:cNvPr id="30" name="Rounded Rectangle 29"/>
          <p:cNvSpPr/>
          <p:nvPr/>
        </p:nvSpPr>
        <p:spPr>
          <a:xfrm>
            <a:off x="548640" y="5715000"/>
            <a:ext cx="1554480" cy="41148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B1B1B"/>
                </a:solidFill>
              </a:rPr>
              <a:t>Real and live</a:t>
            </a:r>
          </a:p>
        </p:txBody>
      </p:sp>
      <p:sp>
        <p:nvSpPr>
          <p:cNvPr id="31" name="Rounded Rectangle 30"/>
          <p:cNvSpPr/>
          <p:nvPr/>
        </p:nvSpPr>
        <p:spPr>
          <a:xfrm>
            <a:off x="2240280" y="5715000"/>
            <a:ext cx="1554480" cy="411480"/>
          </a:xfrm>
          <a:prstGeom prst="roundRect">
            <a:avLst/>
          </a:prstGeom>
          <a:solidFill>
            <a:srgbClr val="F5F5F5"/>
          </a:solidFill>
          <a:ln w="19050">
            <a:solidFill>
              <a:srgbClr val="8080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0">
                <a:solidFill>
                  <a:srgbClr val="1B1B1B"/>
                </a:solidFill>
              </a:rPr>
              <a:t>Planned</a:t>
            </a:r>
          </a:p>
        </p:txBody>
      </p:sp>
      <p:sp>
        <p:nvSpPr>
          <p:cNvPr id="32" name="TextBox 31"/>
          <p:cNvSpPr txBox="1"/>
          <p:nvPr/>
        </p:nvSpPr>
        <p:spPr>
          <a:xfrm>
            <a:off x="3977639" y="5760720"/>
            <a:ext cx="7680960" cy="411480"/>
          </a:xfrm>
          <a:prstGeom prst="rect">
            <a:avLst/>
          </a:prstGeom>
          <a:noFill/>
        </p:spPr>
        <p:txBody>
          <a:bodyPr wrap="square">
            <a:spAutoFit/>
          </a:bodyPr>
          <a:lstStyle/>
          <a:p>
            <a:pPr>
              <a:spcAft>
                <a:spcPts val="600"/>
              </a:spcAft>
            </a:pPr>
            <a:r>
              <a:rPr sz="1200" b="0">
                <a:solidFill>
                  <a:srgbClr val="555555"/>
                </a:solidFill>
              </a:rPr>
              <a:t>Voice can only make an answer more cautious: it can turn an answer into a referral, never into a spray.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spcAft>
                <a:spcPts val="600"/>
              </a:spcAft>
            </a:pPr>
            <a:r>
              <a:rPr sz="3000" b="1">
                <a:solidFill>
                  <a:srgbClr val="1B5E20"/>
                </a:solidFill>
              </a:rPr>
              <a:t>Tested on photos from three countries: 0 wrong spray advice.</a:t>
            </a:r>
          </a:p>
        </p:txBody>
      </p:sp>
      <p:sp>
        <p:nvSpPr>
          <p:cNvPr id="3" name="Rectangle 2"/>
          <p:cNvSpPr/>
          <p:nvPr/>
        </p:nvSpPr>
        <p:spPr>
          <a:xfrm>
            <a:off x="548640" y="1115568"/>
            <a:ext cx="1106424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0241280" cy="365760"/>
          </a:xfrm>
          <a:prstGeom prst="rect">
            <a:avLst/>
          </a:prstGeom>
          <a:noFill/>
        </p:spPr>
        <p:txBody>
          <a:bodyPr wrap="square">
            <a:spAutoFit/>
          </a:bodyPr>
          <a:lstStyle/>
          <a:p>
            <a:pPr>
              <a:spcAft>
                <a:spcPts val="600"/>
              </a:spcAft>
            </a:pPr>
            <a:r>
              <a:rPr sz="1000" b="0">
                <a:solidFill>
                  <a:srgbClr val="555555"/>
                </a:solidFill>
              </a:rPr>
              <a:t>training/eval_report.md and training/eval_summary.json. Data: RiceLeafBD, BD5, Dhan-Shomadhan, Paddy Doctor (CC BY 4.0); Zambali Rice Dataset (Apache-2.0)</a:t>
            </a:r>
          </a:p>
        </p:txBody>
      </p:sp>
      <p:sp>
        <p:nvSpPr>
          <p:cNvPr id="5" name="TextBox 4"/>
          <p:cNvSpPr txBox="1"/>
          <p:nvPr/>
        </p:nvSpPr>
        <p:spPr>
          <a:xfrm>
            <a:off x="10881360" y="6400800"/>
            <a:ext cx="777240" cy="365760"/>
          </a:xfrm>
          <a:prstGeom prst="rect">
            <a:avLst/>
          </a:prstGeom>
          <a:noFill/>
        </p:spPr>
        <p:txBody>
          <a:bodyPr wrap="square">
            <a:spAutoFit/>
          </a:bodyPr>
          <a:lstStyle/>
          <a:p>
            <a:pPr algn="r">
              <a:spcAft>
                <a:spcPts val="600"/>
              </a:spcAft>
            </a:pPr>
            <a:r>
              <a:rPr sz="1000" b="0">
                <a:solidFill>
                  <a:srgbClr val="555555"/>
                </a:solidFill>
              </a:rPr>
              <a:t>6 / 8</a:t>
            </a:r>
          </a:p>
        </p:txBody>
      </p:sp>
      <p:graphicFrame>
        <p:nvGraphicFramePr>
          <p:cNvPr id="6" name="Table 5"/>
          <p:cNvGraphicFramePr>
            <a:graphicFrameLocks noGrp="1"/>
          </p:cNvGraphicFramePr>
          <p:nvPr/>
        </p:nvGraphicFramePr>
        <p:xfrm>
          <a:off x="548640" y="1371600"/>
          <a:ext cx="11064240" cy="2852928"/>
        </p:xfrm>
        <a:graphic>
          <a:graphicData uri="http://schemas.openxmlformats.org/drawingml/2006/table">
            <a:tbl>
              <a:tblPr firstRow="1" bandRow="1">
                <a:tableStyleId>{5C22544A-7EE6-4342-B048-85BDC9FD1C3A}</a:tableStyleId>
              </a:tblPr>
              <a:tblGrid>
                <a:gridCol w="2240280"/>
                <a:gridCol w="914400"/>
                <a:gridCol w="1600200"/>
                <a:gridCol w="1783080"/>
                <a:gridCol w="1691640"/>
                <a:gridCol w="1691640"/>
                <a:gridCol w="1143000"/>
              </a:tblGrid>
              <a:tr h="713232">
                <a:tc>
                  <a:txBody>
                    <a:bodyPr/>
                    <a:lstStyle/>
                    <a:p>
                      <a:pPr algn="l"/>
                      <a:r>
                        <a:rPr sz="1300" b="1">
                          <a:solidFill>
                            <a:srgbClr val="1B1B1B"/>
                          </a:solidFill>
                        </a:rPr>
                        <a:t>Test set</a:t>
                      </a:r>
                    </a:p>
                  </a:txBody>
                  <a:tcPr anchor="ctr">
                    <a:solidFill>
                      <a:srgbClr val="E8F3E8"/>
                    </a:solidFill>
                  </a:tcPr>
                </a:tc>
                <a:tc>
                  <a:txBody>
                    <a:bodyPr/>
                    <a:lstStyle/>
                    <a:p>
                      <a:pPr algn="ctr"/>
                      <a:r>
                        <a:rPr sz="1300" b="1">
                          <a:solidFill>
                            <a:srgbClr val="1B1B1B"/>
                          </a:solidFill>
                        </a:rPr>
                        <a:t>Photos</a:t>
                      </a:r>
                    </a:p>
                  </a:txBody>
                  <a:tcPr anchor="ctr">
                    <a:solidFill>
                      <a:srgbClr val="E8F3E8"/>
                    </a:solidFill>
                  </a:tcPr>
                </a:tc>
                <a:tc>
                  <a:txBody>
                    <a:bodyPr/>
                    <a:lstStyle/>
                    <a:p>
                      <a:pPr algn="ctr"/>
                      <a:r>
                        <a:rPr sz="1300" b="1">
                          <a:solidFill>
                            <a:srgbClr val="1B1B1B"/>
                          </a:solidFill>
                        </a:rPr>
                        <a:t>Classifier confident</a:t>
                      </a:r>
                    </a:p>
                  </a:txBody>
                  <a:tcPr anchor="ctr">
                    <a:solidFill>
                      <a:srgbClr val="E8F3E8"/>
                    </a:solidFill>
                  </a:tcPr>
                </a:tc>
                <a:tc>
                  <a:txBody>
                    <a:bodyPr/>
                    <a:lstStyle/>
                    <a:p>
                      <a:pPr algn="ctr"/>
                      <a:r>
                        <a:rPr sz="1300" b="1">
                          <a:solidFill>
                            <a:srgbClr val="1B1B1B"/>
                          </a:solidFill>
                        </a:rPr>
                        <a:t>Advice given</a:t>
                      </a:r>
                    </a:p>
                    <a:p>
                      <a:pPr algn="ctr"/>
                      <a:r>
                        <a:rPr sz="1300" b="1">
                          <a:solidFill>
                            <a:srgbClr val="1B1B1B"/>
                          </a:solidFill>
                        </a:rPr>
                        <a:t>(“no spray now”)</a:t>
                      </a:r>
                    </a:p>
                  </a:txBody>
                  <a:tcPr anchor="ctr">
                    <a:solidFill>
                      <a:srgbClr val="E8F3E8"/>
                    </a:solidFill>
                  </a:tcPr>
                </a:tc>
                <a:tc>
                  <a:txBody>
                    <a:bodyPr/>
                    <a:lstStyle/>
                    <a:p>
                      <a:pPr algn="ctr"/>
                      <a:r>
                        <a:rPr sz="1300" b="1">
                          <a:solidFill>
                            <a:srgbClr val="1B1B1B"/>
                          </a:solidFill>
                        </a:rPr>
                        <a:t>BLB question asked</a:t>
                      </a:r>
                    </a:p>
                  </a:txBody>
                  <a:tcPr anchor="ctr">
                    <a:solidFill>
                      <a:srgbClr val="E8F3E8"/>
                    </a:solidFill>
                  </a:tcPr>
                </a:tc>
                <a:tc>
                  <a:txBody>
                    <a:bodyPr/>
                    <a:lstStyle/>
                    <a:p>
                      <a:pPr algn="ctr"/>
                      <a:r>
                        <a:rPr sz="1300" b="1">
                          <a:solidFill>
                            <a:srgbClr val="1B1B1B"/>
                          </a:solidFill>
                        </a:rPr>
                        <a:t>Blast question asked</a:t>
                      </a:r>
                    </a:p>
                  </a:txBody>
                  <a:tcPr anchor="ctr">
                    <a:solidFill>
                      <a:srgbClr val="E8F3E8"/>
                    </a:solidFill>
                  </a:tcPr>
                </a:tc>
                <a:tc>
                  <a:txBody>
                    <a:bodyPr/>
                    <a:lstStyle/>
                    <a:p>
                      <a:pPr algn="ctr"/>
                      <a:r>
                        <a:rPr sz="1300" b="1">
                          <a:solidFill>
                            <a:srgbClr val="1B1B1B"/>
                          </a:solidFill>
                        </a:rPr>
                        <a:t>Wrong spray advice</a:t>
                      </a:r>
                    </a:p>
                  </a:txBody>
                  <a:tcPr anchor="ctr">
                    <a:solidFill>
                      <a:srgbClr val="E8F3E8"/>
                    </a:solidFill>
                  </a:tcPr>
                </a:tc>
              </a:tr>
              <a:tr h="713232">
                <a:tc>
                  <a:txBody>
                    <a:bodyPr/>
                    <a:lstStyle/>
                    <a:p>
                      <a:pPr algn="l"/>
                      <a:r>
                        <a:rPr sz="1300" b="1">
                          <a:solidFill>
                            <a:srgbClr val="1B1B1B"/>
                          </a:solidFill>
                        </a:rPr>
                        <a:t>Bangladesh</a:t>
                      </a:r>
                    </a:p>
                    <a:p>
                      <a:pPr algn="l"/>
                      <a:r>
                        <a:rPr sz="1300" b="1">
                          <a:solidFill>
                            <a:srgbClr val="1B1B1B"/>
                          </a:solidFill>
                        </a:rPr>
                        <a:t>our test split</a:t>
                      </a:r>
                    </a:p>
                  </a:txBody>
                  <a:tcPr anchor="ctr">
                    <a:solidFill>
                      <a:srgbClr val="F4F8F4"/>
                    </a:solidFill>
                  </a:tcPr>
                </a:tc>
                <a:tc>
                  <a:txBody>
                    <a:bodyPr/>
                    <a:lstStyle/>
                    <a:p>
                      <a:pPr algn="ctr"/>
                      <a:r>
                        <a:rPr sz="1300" b="0">
                          <a:solidFill>
                            <a:srgbClr val="1B1B1B"/>
                          </a:solidFill>
                        </a:rPr>
                        <a:t>828</a:t>
                      </a:r>
                    </a:p>
                  </a:txBody>
                  <a:tcPr anchor="ctr">
                    <a:solidFill>
                      <a:srgbClr val="F4F8F4"/>
                    </a:solidFill>
                  </a:tcPr>
                </a:tc>
                <a:tc>
                  <a:txBody>
                    <a:bodyPr/>
                    <a:lstStyle/>
                    <a:p>
                      <a:pPr algn="ctr"/>
                      <a:r>
                        <a:rPr sz="1300" b="0">
                          <a:solidFill>
                            <a:srgbClr val="1B1B1B"/>
                          </a:solidFill>
                        </a:rPr>
                        <a:t>515 (62.2%)</a:t>
                      </a:r>
                    </a:p>
                  </a:txBody>
                  <a:tcPr anchor="ctr">
                    <a:solidFill>
                      <a:srgbClr val="F4F8F4"/>
                    </a:solidFill>
                  </a:tcPr>
                </a:tc>
                <a:tc>
                  <a:txBody>
                    <a:bodyPr/>
                    <a:lstStyle/>
                    <a:p>
                      <a:pPr algn="ctr"/>
                      <a:r>
                        <a:rPr sz="1300" b="0">
                          <a:solidFill>
                            <a:srgbClr val="1B1B1B"/>
                          </a:solidFill>
                        </a:rPr>
                        <a:t>150</a:t>
                      </a:r>
                    </a:p>
                    <a:p>
                      <a:pPr algn="ctr"/>
                      <a:r>
                        <a:rPr sz="1300" b="0">
                          <a:solidFill>
                            <a:srgbClr val="1B1B1B"/>
                          </a:solidFill>
                        </a:rPr>
                        <a:t>139 right, 11 wrong</a:t>
                      </a:r>
                    </a:p>
                  </a:txBody>
                  <a:tcPr anchor="ctr">
                    <a:solidFill>
                      <a:srgbClr val="F4F8F4"/>
                    </a:solidFill>
                  </a:tcPr>
                </a:tc>
                <a:tc>
                  <a:txBody>
                    <a:bodyPr/>
                    <a:lstStyle/>
                    <a:p>
                      <a:pPr algn="ctr"/>
                      <a:r>
                        <a:rPr sz="1300" b="0">
                          <a:solidFill>
                            <a:srgbClr val="1B1B1B"/>
                          </a:solidFill>
                        </a:rPr>
                        <a:t>32</a:t>
                      </a:r>
                    </a:p>
                    <a:p>
                      <a:pPr algn="ctr"/>
                      <a:r>
                        <a:rPr sz="1300" b="0">
                          <a:solidFill>
                            <a:srgbClr val="1B1B1B"/>
                          </a:solidFill>
                        </a:rPr>
                        <a:t>31 true BLB, 1 other</a:t>
                      </a:r>
                    </a:p>
                  </a:txBody>
                  <a:tcPr anchor="ctr">
                    <a:solidFill>
                      <a:srgbClr val="F4F8F4"/>
                    </a:solidFill>
                  </a:tcPr>
                </a:tc>
                <a:tc>
                  <a:txBody>
                    <a:bodyPr/>
                    <a:lstStyle/>
                    <a:p>
                      <a:pPr algn="ctr"/>
                      <a:r>
                        <a:rPr sz="1300" b="0">
                          <a:solidFill>
                            <a:srgbClr val="1B1B1B"/>
                          </a:solidFill>
                        </a:rPr>
                        <a:t>0</a:t>
                      </a:r>
                    </a:p>
                  </a:txBody>
                  <a:tcPr anchor="ctr">
                    <a:solidFill>
                      <a:srgbClr val="F4F8F4"/>
                    </a:solidFill>
                  </a:tcPr>
                </a:tc>
                <a:tc>
                  <a:txBody>
                    <a:bodyPr/>
                    <a:lstStyle/>
                    <a:p>
                      <a:pPr algn="ctr"/>
                      <a:r>
                        <a:rPr sz="1300" b="0">
                          <a:solidFill>
                            <a:srgbClr val="1B1B1B"/>
                          </a:solidFill>
                        </a:rPr>
                        <a:t>0</a:t>
                      </a:r>
                    </a:p>
                  </a:txBody>
                  <a:tcPr anchor="ctr">
                    <a:solidFill>
                      <a:srgbClr val="F4F8F4"/>
                    </a:solidFill>
                  </a:tcPr>
                </a:tc>
              </a:tr>
              <a:tr h="713232">
                <a:tc>
                  <a:txBody>
                    <a:bodyPr/>
                    <a:lstStyle/>
                    <a:p>
                      <a:pPr algn="l"/>
                      <a:r>
                        <a:rPr sz="1300" b="1">
                          <a:solidFill>
                            <a:srgbClr val="1B1B1B"/>
                          </a:solidFill>
                        </a:rPr>
                        <a:t>India*</a:t>
                      </a:r>
                    </a:p>
                    <a:p>
                      <a:pPr algn="l"/>
                      <a:r>
                        <a:rPr sz="1300" b="1">
                          <a:solidFill>
                            <a:srgbClr val="1B1B1B"/>
                          </a:solidFill>
                        </a:rPr>
                        <a:t>Paddy Doctor held-out</a:t>
                      </a:r>
                    </a:p>
                  </a:txBody>
                  <a:tcPr anchor="ctr">
                    <a:solidFill>
                      <a:srgbClr val="FFFFFF"/>
                    </a:solidFill>
                  </a:tcPr>
                </a:tc>
                <a:tc>
                  <a:txBody>
                    <a:bodyPr/>
                    <a:lstStyle/>
                    <a:p>
                      <a:pPr algn="ctr"/>
                      <a:r>
                        <a:rPr sz="1300" b="0">
                          <a:solidFill>
                            <a:srgbClr val="1B1B1B"/>
                          </a:solidFill>
                        </a:rPr>
                        <a:t>500</a:t>
                      </a:r>
                    </a:p>
                  </a:txBody>
                  <a:tcPr anchor="ctr">
                    <a:solidFill>
                      <a:srgbClr val="FFFFFF"/>
                    </a:solidFill>
                  </a:tcPr>
                </a:tc>
                <a:tc>
                  <a:txBody>
                    <a:bodyPr/>
                    <a:lstStyle/>
                    <a:p>
                      <a:pPr algn="ctr"/>
                      <a:r>
                        <a:rPr sz="1300" b="0">
                          <a:solidFill>
                            <a:srgbClr val="1B1B1B"/>
                          </a:solidFill>
                        </a:rPr>
                        <a:t>327 (65.4%)</a:t>
                      </a:r>
                    </a:p>
                  </a:txBody>
                  <a:tcPr anchor="ctr">
                    <a:solidFill>
                      <a:srgbClr val="FFFFFF"/>
                    </a:solidFill>
                  </a:tcPr>
                </a:tc>
                <a:tc>
                  <a:txBody>
                    <a:bodyPr/>
                    <a:lstStyle/>
                    <a:p>
                      <a:pPr algn="ctr"/>
                      <a:r>
                        <a:rPr sz="1300" b="0">
                          <a:solidFill>
                            <a:srgbClr val="1B1B1B"/>
                          </a:solidFill>
                        </a:rPr>
                        <a:t>113</a:t>
                      </a:r>
                    </a:p>
                    <a:p>
                      <a:pPr algn="ctr"/>
                      <a:r>
                        <a:rPr sz="1300" b="0">
                          <a:solidFill>
                            <a:srgbClr val="1B1B1B"/>
                          </a:solidFill>
                        </a:rPr>
                        <a:t>112 right, 1 wrong</a:t>
                      </a:r>
                    </a:p>
                  </a:txBody>
                  <a:tcPr anchor="ctr">
                    <a:solidFill>
                      <a:srgbClr val="FFFFFF"/>
                    </a:solidFill>
                  </a:tcPr>
                </a:tc>
                <a:tc>
                  <a:txBody>
                    <a:bodyPr/>
                    <a:lstStyle/>
                    <a:p>
                      <a:pPr algn="ctr"/>
                      <a:r>
                        <a:rPr sz="1300" b="0">
                          <a:solidFill>
                            <a:srgbClr val="1B1B1B"/>
                          </a:solidFill>
                        </a:rPr>
                        <a:t>103</a:t>
                      </a:r>
                    </a:p>
                    <a:p>
                      <a:pPr algn="ctr"/>
                      <a:r>
                        <a:rPr sz="1300" b="0">
                          <a:solidFill>
                            <a:srgbClr val="1B1B1B"/>
                          </a:solidFill>
                        </a:rPr>
                        <a:t>103 true BLB, 0 other</a:t>
                      </a:r>
                    </a:p>
                  </a:txBody>
                  <a:tcPr anchor="ctr">
                    <a:solidFill>
                      <a:srgbClr val="FFFFFF"/>
                    </a:solidFill>
                  </a:tcPr>
                </a:tc>
                <a:tc>
                  <a:txBody>
                    <a:bodyPr/>
                    <a:lstStyle/>
                    <a:p>
                      <a:pPr algn="ctr"/>
                      <a:r>
                        <a:rPr sz="1300" b="0">
                          <a:solidFill>
                            <a:srgbClr val="1B1B1B"/>
                          </a:solidFill>
                        </a:rPr>
                        <a:t>6</a:t>
                      </a:r>
                    </a:p>
                    <a:p>
                      <a:pPr algn="ctr"/>
                      <a:r>
                        <a:rPr sz="1300" b="0">
                          <a:solidFill>
                            <a:srgbClr val="1B1B1B"/>
                          </a:solidFill>
                        </a:rPr>
                        <a:t>6 true blast, 0 other</a:t>
                      </a:r>
                    </a:p>
                  </a:txBody>
                  <a:tcPr anchor="ctr">
                    <a:solidFill>
                      <a:srgbClr val="FFFFFF"/>
                    </a:solidFill>
                  </a:tcPr>
                </a:tc>
                <a:tc>
                  <a:txBody>
                    <a:bodyPr/>
                    <a:lstStyle/>
                    <a:p>
                      <a:pPr algn="ctr"/>
                      <a:r>
                        <a:rPr sz="1300" b="0">
                          <a:solidFill>
                            <a:srgbClr val="1B1B1B"/>
                          </a:solidFill>
                        </a:rPr>
                        <a:t>0</a:t>
                      </a:r>
                    </a:p>
                  </a:txBody>
                  <a:tcPr anchor="ctr">
                    <a:solidFill>
                      <a:srgbClr val="FFFFFF"/>
                    </a:solidFill>
                  </a:tcPr>
                </a:tc>
              </a:tr>
              <a:tr h="713232">
                <a:tc>
                  <a:txBody>
                    <a:bodyPr/>
                    <a:lstStyle/>
                    <a:p>
                      <a:pPr algn="l"/>
                      <a:r>
                        <a:rPr sz="1300" b="1">
                          <a:solidFill>
                            <a:srgbClr val="1B1B1B"/>
                          </a:solidFill>
                        </a:rPr>
                        <a:t>Philippines</a:t>
                      </a:r>
                    </a:p>
                    <a:p>
                      <a:pPr algn="l"/>
                      <a:r>
                        <a:rPr sz="1300" b="1">
                          <a:solidFill>
                            <a:srgbClr val="1B1B1B"/>
                          </a:solidFill>
                        </a:rPr>
                        <a:t>external, never seen</a:t>
                      </a:r>
                    </a:p>
                  </a:txBody>
                  <a:tcPr anchor="ctr">
                    <a:solidFill>
                      <a:srgbClr val="F4F8F4"/>
                    </a:solidFill>
                  </a:tcPr>
                </a:tc>
                <a:tc>
                  <a:txBody>
                    <a:bodyPr/>
                    <a:lstStyle/>
                    <a:p>
                      <a:pPr algn="ctr"/>
                      <a:r>
                        <a:rPr sz="1300" b="0">
                          <a:solidFill>
                            <a:srgbClr val="1B1B1B"/>
                          </a:solidFill>
                        </a:rPr>
                        <a:t>200</a:t>
                      </a:r>
                    </a:p>
                  </a:txBody>
                  <a:tcPr anchor="ctr">
                    <a:solidFill>
                      <a:srgbClr val="F4F8F4"/>
                    </a:solidFill>
                  </a:tcPr>
                </a:tc>
                <a:tc>
                  <a:txBody>
                    <a:bodyPr/>
                    <a:lstStyle/>
                    <a:p>
                      <a:pPr algn="ctr"/>
                      <a:r>
                        <a:rPr sz="1300" b="0">
                          <a:solidFill>
                            <a:srgbClr val="1B1B1B"/>
                          </a:solidFill>
                        </a:rPr>
                        <a:t>69 (34.5%)</a:t>
                      </a:r>
                    </a:p>
                  </a:txBody>
                  <a:tcPr anchor="ctr">
                    <a:solidFill>
                      <a:srgbClr val="F4F8F4"/>
                    </a:solidFill>
                  </a:tcPr>
                </a:tc>
                <a:tc>
                  <a:txBody>
                    <a:bodyPr/>
                    <a:lstStyle/>
                    <a:p>
                      <a:pPr algn="ctr"/>
                      <a:r>
                        <a:rPr sz="1300" b="0">
                          <a:solidFill>
                            <a:srgbClr val="1B1B1B"/>
                          </a:solidFill>
                        </a:rPr>
                        <a:t>28</a:t>
                      </a:r>
                    </a:p>
                    <a:p>
                      <a:pPr algn="ctr"/>
                      <a:r>
                        <a:rPr sz="1300" b="0">
                          <a:solidFill>
                            <a:srgbClr val="1B1B1B"/>
                          </a:solidFill>
                        </a:rPr>
                        <a:t>27 right, 1 wrong</a:t>
                      </a:r>
                    </a:p>
                  </a:txBody>
                  <a:tcPr anchor="ctr">
                    <a:solidFill>
                      <a:srgbClr val="F4F8F4"/>
                    </a:solidFill>
                  </a:tcPr>
                </a:tc>
                <a:tc>
                  <a:txBody>
                    <a:bodyPr/>
                    <a:lstStyle/>
                    <a:p>
                      <a:pPr algn="ctr"/>
                      <a:r>
                        <a:rPr sz="1300" b="0">
                          <a:solidFill>
                            <a:srgbClr val="1B1B1B"/>
                          </a:solidFill>
                        </a:rPr>
                        <a:t>0</a:t>
                      </a:r>
                    </a:p>
                  </a:txBody>
                  <a:tcPr anchor="ctr">
                    <a:solidFill>
                      <a:srgbClr val="F4F8F4"/>
                    </a:solidFill>
                  </a:tcPr>
                </a:tc>
                <a:tc>
                  <a:txBody>
                    <a:bodyPr/>
                    <a:lstStyle/>
                    <a:p>
                      <a:pPr algn="ctr"/>
                      <a:r>
                        <a:rPr sz="1300" b="0">
                          <a:solidFill>
                            <a:srgbClr val="1B1B1B"/>
                          </a:solidFill>
                        </a:rPr>
                        <a:t>0</a:t>
                      </a:r>
                    </a:p>
                  </a:txBody>
                  <a:tcPr anchor="ctr">
                    <a:solidFill>
                      <a:srgbClr val="F4F8F4"/>
                    </a:solidFill>
                  </a:tcPr>
                </a:tc>
                <a:tc>
                  <a:txBody>
                    <a:bodyPr/>
                    <a:lstStyle/>
                    <a:p>
                      <a:pPr algn="ctr"/>
                      <a:r>
                        <a:rPr sz="1300" b="0">
                          <a:solidFill>
                            <a:srgbClr val="1B1B1B"/>
                          </a:solidFill>
                        </a:rPr>
                        <a:t>0</a:t>
                      </a:r>
                    </a:p>
                  </a:txBody>
                  <a:tcPr anchor="ctr">
                    <a:solidFill>
                      <a:srgbClr val="F4F8F4"/>
                    </a:solidFill>
                  </a:tcPr>
                </a:tc>
              </a:tr>
            </a:tbl>
          </a:graphicData>
        </a:graphic>
      </p:graphicFrame>
      <p:sp>
        <p:nvSpPr>
          <p:cNvPr id="7" name="TextBox 6"/>
          <p:cNvSpPr txBox="1"/>
          <p:nvPr/>
        </p:nvSpPr>
        <p:spPr>
          <a:xfrm>
            <a:off x="548640" y="4343400"/>
            <a:ext cx="11064240" cy="2011680"/>
          </a:xfrm>
          <a:prstGeom prst="rect">
            <a:avLst/>
          </a:prstGeom>
          <a:noFill/>
        </p:spPr>
        <p:txBody>
          <a:bodyPr wrap="square">
            <a:spAutoFit/>
          </a:bodyPr>
          <a:lstStyle/>
          <a:p>
            <a:pPr>
              <a:spcAft>
                <a:spcPts val="400"/>
              </a:spcAft>
            </a:pPr>
            <a:r>
              <a:rPr sz="1300" b="0">
                <a:solidFill>
                  <a:srgbClr val="1B1B1B"/>
                </a:solidFill>
              </a:rPr>
              <a:t>*Same source as some training data, so it is not an external test. Only the Philippine set was never seen in training.</a:t>
            </a:r>
          </a:p>
          <a:p>
            <a:pPr>
              <a:spcAft>
                <a:spcPts val="400"/>
              </a:spcAft>
            </a:pPr>
            <a:r>
              <a:rPr sz="1300" b="0">
                <a:solidFill>
                  <a:srgbClr val="1B1B1B"/>
                </a:solidFill>
              </a:rPr>
              <a:t>Advice given: the healthy answer, the only answer given from the photo alone. A wrong one is a diseased leaf told “no spray now”.</a:t>
            </a:r>
          </a:p>
          <a:p>
            <a:pPr>
              <a:spcAft>
                <a:spcPts val="400"/>
              </a:spcAft>
            </a:pPr>
            <a:r>
              <a:rPr sz="1300" b="0">
                <a:solidFill>
                  <a:srgbClr val="1B1B1B"/>
                </a:solidFill>
              </a:rPr>
              <a:t>BLB / blast question asked: the model is confident, and the app asks the farmer before it answers. “Other” would become a wrong answer only if the farmer said “yes”.</a:t>
            </a:r>
          </a:p>
          <a:p>
            <a:pPr>
              <a:spcAft>
                <a:spcPts val="400"/>
              </a:spcAft>
            </a:pPr>
            <a:r>
              <a:rPr sz="1300" b="0">
                <a:solidFill>
                  <a:srgbClr val="1B1B1B"/>
                </a:solidFill>
              </a:rPr>
              <a:t>Wrong spray advice counts the worst case: the farmer answers “yes” to every blast question.</a:t>
            </a:r>
          </a:p>
          <a:p>
            <a:pPr>
              <a:spcAft>
                <a:spcPts val="400"/>
              </a:spcAft>
            </a:pPr>
            <a:r>
              <a:rPr sz="1300" b="0">
                <a:solidFill>
                  <a:srgbClr val="1B1B1B"/>
                </a:solidFill>
              </a:rPr>
              <a:t>Model v2.1: weights frozen on 11 Oct 2026; every threshold chosen on validation data only. 0 off-script answers in 20 scripted consultations.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spcAft>
                <a:spcPts val="600"/>
              </a:spcAft>
            </a:pPr>
            <a:r>
              <a:rPr sz="3000" b="1">
                <a:solidFill>
                  <a:srgbClr val="1B5E20"/>
                </a:solidFill>
              </a:rPr>
              <a:t>What it cannot do yet.</a:t>
            </a:r>
          </a:p>
        </p:txBody>
      </p:sp>
      <p:sp>
        <p:nvSpPr>
          <p:cNvPr id="3" name="Rectangle 2"/>
          <p:cNvSpPr/>
          <p:nvPr/>
        </p:nvSpPr>
        <p:spPr>
          <a:xfrm>
            <a:off x="548640" y="1115568"/>
            <a:ext cx="1106424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0241280" cy="365760"/>
          </a:xfrm>
          <a:prstGeom prst="rect">
            <a:avLst/>
          </a:prstGeom>
          <a:noFill/>
        </p:spPr>
        <p:txBody>
          <a:bodyPr wrap="square">
            <a:spAutoFit/>
          </a:bodyPr>
          <a:lstStyle/>
          <a:p>
            <a:pPr>
              <a:spcAft>
                <a:spcPts val="600"/>
              </a:spcAft>
            </a:pPr>
            <a:r>
              <a:rPr sz="1000" b="0">
                <a:solidFill>
                  <a:srgbClr val="555555"/>
                </a:solidFill>
              </a:rPr>
              <a:t>README, section “Limitations”; docs/gates.md; training/eval_report.md</a:t>
            </a:r>
          </a:p>
        </p:txBody>
      </p:sp>
      <p:sp>
        <p:nvSpPr>
          <p:cNvPr id="5" name="TextBox 4"/>
          <p:cNvSpPr txBox="1"/>
          <p:nvPr/>
        </p:nvSpPr>
        <p:spPr>
          <a:xfrm>
            <a:off x="10881360" y="6400800"/>
            <a:ext cx="777240" cy="365760"/>
          </a:xfrm>
          <a:prstGeom prst="rect">
            <a:avLst/>
          </a:prstGeom>
          <a:noFill/>
        </p:spPr>
        <p:txBody>
          <a:bodyPr wrap="square">
            <a:spAutoFit/>
          </a:bodyPr>
          <a:lstStyle/>
          <a:p>
            <a:pPr algn="r">
              <a:spcAft>
                <a:spcPts val="600"/>
              </a:spcAft>
            </a:pPr>
            <a:r>
              <a:rPr sz="1000" b="0">
                <a:solidFill>
                  <a:srgbClr val="555555"/>
                </a:solidFill>
              </a:rPr>
              <a:t>7 / 8</a:t>
            </a:r>
          </a:p>
        </p:txBody>
      </p:sp>
      <p:sp>
        <p:nvSpPr>
          <p:cNvPr id="6" name="TextBox 5"/>
          <p:cNvSpPr txBox="1"/>
          <p:nvPr/>
        </p:nvSpPr>
        <p:spPr>
          <a:xfrm>
            <a:off x="548640" y="1371600"/>
            <a:ext cx="11064240" cy="4937760"/>
          </a:xfrm>
          <a:prstGeom prst="rect">
            <a:avLst/>
          </a:prstGeom>
          <a:noFill/>
        </p:spPr>
        <p:txBody>
          <a:bodyPr wrap="square">
            <a:spAutoFit/>
          </a:bodyPr>
          <a:lstStyle/>
          <a:p>
            <a:pPr>
              <a:spcAft>
                <a:spcPts val="1000"/>
              </a:spcAft>
            </a:pPr>
            <a:r>
              <a:rPr sz="1800" b="0">
                <a:solidFill>
                  <a:srgbClr val="1B1B1B"/>
                </a:solidFill>
              </a:rPr>
              <a:t>•  It does not recognise diseases from a new source. In the Philippine test the BLB question was asked 0 times and the blast question 0 times on 200 photos: almost every diseased leaf was referred, not recognised.</a:t>
            </a:r>
          </a:p>
          <a:p>
            <a:pPr>
              <a:spcAft>
                <a:spcPts val="1000"/>
              </a:spcAft>
            </a:pPr>
            <a:r>
              <a:rPr sz="1800" b="0">
                <a:solidFill>
                  <a:srgbClr val="1B1B1B"/>
                </a:solidFill>
              </a:rPr>
              <a:t>•  Four close-up web photos of blast: none was recognised as blast. All four are referred.</a:t>
            </a:r>
          </a:p>
          <a:p>
            <a:pPr>
              <a:spcAft>
                <a:spcPts val="1000"/>
              </a:spcAft>
            </a:pPr>
            <a:r>
              <a:rPr sz="1800" b="0">
                <a:solidFill>
                  <a:srgbClr val="1B1B1B"/>
                </a:solidFill>
              </a:rPr>
              <a:t>•  Blast is rarely answered: the blast question was asked 0 times on our 828 test photos and 6 times on the 500 Indian photos.</a:t>
            </a:r>
          </a:p>
          <a:p>
            <a:pPr>
              <a:spcAft>
                <a:spcPts val="1000"/>
              </a:spcAft>
            </a:pPr>
            <a:r>
              <a:rPr sz="1800" b="0">
                <a:solidFill>
                  <a:srgbClr val="1B1B1B"/>
                </a:solidFill>
              </a:rPr>
              <a:t>•  Wrong “no spray now”: 11 narrow brown spot leaves on a white sheet (Bangladesh), 1 blast leaf (India), 1 blast leaf (Philippines). The healthy answer therefore ends: if spots appear or spread, take a new photo or call 16123.</a:t>
            </a:r>
          </a:p>
          <a:p>
            <a:pPr>
              <a:spcAft>
                <a:spcPts val="1000"/>
              </a:spcAft>
            </a:pPr>
            <a:r>
              <a:rPr sz="1800" b="0">
                <a:solidFill>
                  <a:srgbClr val="1B1B1B"/>
                </a:solidFill>
              </a:rPr>
              <a:t>•  The two confirmation questions rely on the farmer's judgement and have not been tested with farmers.</a:t>
            </a:r>
          </a:p>
          <a:p>
            <a:pPr>
              <a:spcAft>
                <a:spcPts val="1000"/>
              </a:spcAft>
            </a:pPr>
            <a:r>
              <a:rPr sz="1800" b="0">
                <a:solidFill>
                  <a:srgbClr val="1B1B1B"/>
                </a:solidFill>
              </a:rPr>
              <a:t>•  No field trial. The rules are not yet signed off by an agronomist. The audio is a computer-generated voice.</a:t>
            </a:r>
          </a:p>
          <a:p>
            <a:pPr>
              <a:spcAft>
                <a:spcPts val="1000"/>
              </a:spcAft>
            </a:pPr>
            <a:r>
              <a:rPr sz="1800" b="0">
                <a:solidFill>
                  <a:srgbClr val="1B1B1B"/>
                </a:solidFill>
              </a:rPr>
              <a:t>•  Voice input is written but switched off. Telegram, WhatsApp and phone calls are not built.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spcAft>
                <a:spcPts val="600"/>
              </a:spcAft>
            </a:pPr>
            <a:r>
              <a:rPr sz="3000" b="1">
                <a:solidFill>
                  <a:srgbClr val="1B5E20"/>
                </a:solidFill>
              </a:rPr>
              <a:t>Next: local data through a pilot.</a:t>
            </a:r>
          </a:p>
        </p:txBody>
      </p:sp>
      <p:sp>
        <p:nvSpPr>
          <p:cNvPr id="3" name="Rectangle 2"/>
          <p:cNvSpPr/>
          <p:nvPr/>
        </p:nvSpPr>
        <p:spPr>
          <a:xfrm>
            <a:off x="548640" y="1115568"/>
            <a:ext cx="1106424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0241280" cy="365760"/>
          </a:xfrm>
          <a:prstGeom prst="rect">
            <a:avLst/>
          </a:prstGeom>
          <a:noFill/>
        </p:spPr>
        <p:txBody>
          <a:bodyPr wrap="square">
            <a:spAutoFit/>
          </a:bodyPr>
          <a:lstStyle/>
          <a:p>
            <a:pPr>
              <a:spcAft>
                <a:spcPts val="600"/>
              </a:spcAft>
            </a:pPr>
            <a:r>
              <a:rPr sz="1000" b="0">
                <a:solidFill>
                  <a:srgbClr val="555555"/>
                </a:solidFill>
              </a:rPr>
              <a:t>README, section “Pilot plan”. Nothing in the plan is built yet.</a:t>
            </a:r>
          </a:p>
        </p:txBody>
      </p:sp>
      <p:sp>
        <p:nvSpPr>
          <p:cNvPr id="5" name="TextBox 4"/>
          <p:cNvSpPr txBox="1"/>
          <p:nvPr/>
        </p:nvSpPr>
        <p:spPr>
          <a:xfrm>
            <a:off x="10881360" y="6400800"/>
            <a:ext cx="777240" cy="365760"/>
          </a:xfrm>
          <a:prstGeom prst="rect">
            <a:avLst/>
          </a:prstGeom>
          <a:noFill/>
        </p:spPr>
        <p:txBody>
          <a:bodyPr wrap="square">
            <a:spAutoFit/>
          </a:bodyPr>
          <a:lstStyle/>
          <a:p>
            <a:pPr algn="r">
              <a:spcAft>
                <a:spcPts val="600"/>
              </a:spcAft>
            </a:pPr>
            <a:r>
              <a:rPr sz="1000" b="0">
                <a:solidFill>
                  <a:srgbClr val="555555"/>
                </a:solidFill>
              </a:rPr>
              <a:t>8 / 8</a:t>
            </a:r>
          </a:p>
        </p:txBody>
      </p:sp>
      <p:sp>
        <p:nvSpPr>
          <p:cNvPr id="6" name="TextBox 5"/>
          <p:cNvSpPr txBox="1"/>
          <p:nvPr/>
        </p:nvSpPr>
        <p:spPr>
          <a:xfrm>
            <a:off x="548640" y="1325880"/>
            <a:ext cx="6583680" cy="411480"/>
          </a:xfrm>
          <a:prstGeom prst="rect">
            <a:avLst/>
          </a:prstGeom>
          <a:noFill/>
        </p:spPr>
        <p:txBody>
          <a:bodyPr wrap="square">
            <a:spAutoFit/>
          </a:bodyPr>
          <a:lstStyle/>
          <a:p>
            <a:pPr>
              <a:spcAft>
                <a:spcPts val="600"/>
              </a:spcAft>
            </a:pPr>
            <a:r>
              <a:rPr sz="1800" b="1">
                <a:solidFill>
                  <a:srgbClr val="2E7D32"/>
                </a:solidFill>
              </a:rPr>
              <a:t>Pilot plan (a plan, not a built feature)</a:t>
            </a:r>
          </a:p>
        </p:txBody>
      </p:sp>
      <p:sp>
        <p:nvSpPr>
          <p:cNvPr id="7" name="TextBox 6"/>
          <p:cNvSpPr txBox="1"/>
          <p:nvPr/>
        </p:nvSpPr>
        <p:spPr>
          <a:xfrm>
            <a:off x="548640" y="1783080"/>
            <a:ext cx="6583680" cy="4480560"/>
          </a:xfrm>
          <a:prstGeom prst="rect">
            <a:avLst/>
          </a:prstGeom>
          <a:noFill/>
        </p:spPr>
        <p:txBody>
          <a:bodyPr wrap="square">
            <a:spAutoFit/>
          </a:bodyPr>
          <a:lstStyle/>
          <a:p>
            <a:pPr>
              <a:spcAft>
                <a:spcPts val="900"/>
              </a:spcAft>
            </a:pPr>
            <a:r>
              <a:rPr sz="1600" b="0">
                <a:solidFill>
                  <a:srgbClr val="1B1B1B"/>
                </a:solidFill>
              </a:rPr>
              <a:t>1.  Review first: a Sub-Assistant Agriculture Officer reads the rule table and the answer scripts.</a:t>
            </a:r>
          </a:p>
          <a:p>
            <a:pPr>
              <a:spcAft>
                <a:spcPts val="900"/>
              </a:spcAft>
            </a:pPr>
            <a:r>
              <a:rPr sz="1600" b="0">
                <a:solidFill>
                  <a:srgbClr val="1B1B1B"/>
                </a:solidFill>
              </a:rPr>
              <a:t>2.  A small pilot: about 30 farmers in one block, photo only.</a:t>
            </a:r>
          </a:p>
          <a:p>
            <a:pPr>
              <a:spcAft>
                <a:spcPts val="900"/>
              </a:spcAft>
            </a:pPr>
            <a:r>
              <a:rPr sz="1600" b="0">
                <a:solidFill>
                  <a:srgbClr val="1B1B1B"/>
                </a:solidFill>
              </a:rPr>
              <a:t>3.  Officer-verified referrals become local training data, with a separate, explicit consent. Today the app stores no photos.</a:t>
            </a:r>
          </a:p>
          <a:p>
            <a:pPr>
              <a:spcAft>
                <a:spcPts val="900"/>
              </a:spcAft>
            </a:pPr>
            <a:r>
              <a:rPr sz="1600" b="0">
                <a:solidFill>
                  <a:srgbClr val="1B1B1B"/>
                </a:solidFill>
              </a:rPr>
              <a:t>4.  Retrain only against a held-out local test: more right answers, no more wrong spray advice.</a:t>
            </a:r>
          </a:p>
          <a:p>
            <a:pPr>
              <a:spcAft>
                <a:spcPts val="900"/>
              </a:spcAft>
            </a:pPr>
            <a:r>
              <a:rPr sz="1600" b="0">
                <a:solidFill>
                  <a:srgbClr val="1B1B1B"/>
                </a:solidFill>
              </a:rPr>
              <a:t>5.  Then the next step in the app: voice input, which can only add caution.</a:t>
            </a:r>
          </a:p>
          <a:p>
            <a:pPr>
              <a:spcAft>
                <a:spcPts val="900"/>
              </a:spcAft>
            </a:pPr>
            <a:r>
              <a:rPr sz="1600" b="0">
                <a:solidFill>
                  <a:srgbClr val="1B1B1B"/>
                </a:solidFill>
              </a:rPr>
              <a:t>6.  Measure: how often it refers, how often the officer agrees, any wrong advice, whether the farmer sprayed.</a:t>
            </a:r>
          </a:p>
        </p:txBody>
      </p:sp>
      <p:sp>
        <p:nvSpPr>
          <p:cNvPr id="8" name="Rounded Rectangle 7"/>
          <p:cNvSpPr/>
          <p:nvPr/>
        </p:nvSpPr>
        <p:spPr>
          <a:xfrm>
            <a:off x="7498079" y="1371600"/>
            <a:ext cx="4114800" cy="4846320"/>
          </a:xfrm>
          <a:prstGeom prst="roundRect">
            <a:avLst/>
          </a:prstGeom>
          <a:solidFill>
            <a:srgbClr val="E8F3E8"/>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 name="TextBox 8"/>
          <p:cNvSpPr txBox="1"/>
          <p:nvPr/>
        </p:nvSpPr>
        <p:spPr>
          <a:xfrm>
            <a:off x="7680960" y="1481328"/>
            <a:ext cx="3749039" cy="457200"/>
          </a:xfrm>
          <a:prstGeom prst="rect">
            <a:avLst/>
          </a:prstGeom>
          <a:noFill/>
        </p:spPr>
        <p:txBody>
          <a:bodyPr wrap="square">
            <a:spAutoFit/>
          </a:bodyPr>
          <a:lstStyle/>
          <a:p>
            <a:pPr>
              <a:spcAft>
                <a:spcPts val="600"/>
              </a:spcAft>
            </a:pPr>
            <a:r>
              <a:rPr sz="2200" b="1">
                <a:solidFill>
                  <a:srgbClr val="1B5E20"/>
                </a:solidFill>
              </a:rPr>
              <a:t>Team Unsick</a:t>
            </a:r>
          </a:p>
        </p:txBody>
      </p:sp>
      <p:sp>
        <p:nvSpPr>
          <p:cNvPr id="10" name="TextBox 9"/>
          <p:cNvSpPr txBox="1"/>
          <p:nvPr/>
        </p:nvSpPr>
        <p:spPr>
          <a:xfrm>
            <a:off x="7680960" y="2011680"/>
            <a:ext cx="3749039" cy="1234440"/>
          </a:xfrm>
          <a:prstGeom prst="rect">
            <a:avLst/>
          </a:prstGeom>
          <a:noFill/>
        </p:spPr>
        <p:txBody>
          <a:bodyPr wrap="square">
            <a:spAutoFit/>
          </a:bodyPr>
          <a:lstStyle/>
          <a:p>
            <a:pPr>
              <a:spcAft>
                <a:spcPts val="300"/>
              </a:spcAft>
            </a:pPr>
            <a:r>
              <a:rPr sz="1400" b="0">
                <a:solidFill>
                  <a:srgbClr val="1B1B1B"/>
                </a:solidFill>
              </a:rPr>
              <a:t>Raiyan Rahman</a:t>
            </a:r>
          </a:p>
          <a:p>
            <a:pPr>
              <a:spcAft>
                <a:spcPts val="300"/>
              </a:spcAft>
            </a:pPr>
            <a:r>
              <a:rPr sz="1400" b="0">
                <a:solidFill>
                  <a:srgbClr val="1B1B1B"/>
                </a:solidFill>
              </a:rPr>
              <a:t>Hack for Humanity BD 2026, Round 2</a:t>
            </a:r>
          </a:p>
          <a:p>
            <a:pPr>
              <a:spcAft>
                <a:spcPts val="300"/>
              </a:spcAft>
            </a:pPr>
            <a:r>
              <a:rPr sz="1400" b="0">
                <a:solidFill>
                  <a:srgbClr val="1B1B1B"/>
                </a:solidFill>
              </a:rPr>
              <a:t>Track: Inclusive Rural Development &amp; Agriculture</a:t>
            </a:r>
          </a:p>
        </p:txBody>
      </p:sp>
      <p:sp>
        <p:nvSpPr>
          <p:cNvPr id="11" name="TextBox 10"/>
          <p:cNvSpPr txBox="1"/>
          <p:nvPr/>
        </p:nvSpPr>
        <p:spPr>
          <a:xfrm>
            <a:off x="7680960" y="3337560"/>
            <a:ext cx="3749039" cy="365760"/>
          </a:xfrm>
          <a:prstGeom prst="rect">
            <a:avLst/>
          </a:prstGeom>
          <a:noFill/>
        </p:spPr>
        <p:txBody>
          <a:bodyPr wrap="square">
            <a:spAutoFit/>
          </a:bodyPr>
          <a:lstStyle/>
          <a:p>
            <a:pPr>
              <a:spcAft>
                <a:spcPts val="600"/>
              </a:spcAft>
            </a:pPr>
            <a:r>
              <a:rPr sz="1800" b="1">
                <a:solidFill>
                  <a:srgbClr val="1B5E20"/>
                </a:solidFill>
              </a:rPr>
              <a:t>Links</a:t>
            </a:r>
          </a:p>
        </p:txBody>
      </p:sp>
      <p:sp>
        <p:nvSpPr>
          <p:cNvPr id="12" name="TextBox 11"/>
          <p:cNvSpPr txBox="1"/>
          <p:nvPr/>
        </p:nvSpPr>
        <p:spPr>
          <a:xfrm>
            <a:off x="7680960" y="3749039"/>
            <a:ext cx="3749039" cy="2377440"/>
          </a:xfrm>
          <a:prstGeom prst="rect">
            <a:avLst/>
          </a:prstGeom>
          <a:noFill/>
        </p:spPr>
        <p:txBody>
          <a:bodyPr wrap="square">
            <a:spAutoFit/>
          </a:bodyPr>
          <a:lstStyle/>
          <a:p>
            <a:pPr>
              <a:spcAft>
                <a:spcPts val="200"/>
              </a:spcAft>
            </a:pPr>
            <a:r>
              <a:rPr sz="1200" b="0">
                <a:solidFill>
                  <a:srgbClr val="1B1B1B"/>
                </a:solidFill>
              </a:rPr>
              <a:t>Live app</a:t>
            </a:r>
          </a:p>
          <a:p>
            <a:pPr>
              <a:spcAft>
                <a:spcPts val="200"/>
              </a:spcAft>
            </a:pPr>
            <a:r>
              <a:rPr sz="1200" b="0">
                <a:solidFill>
                  <a:srgbClr val="1B1B1B"/>
                </a:solidFill>
              </a:rPr>
              <a:t>https://raiyan465-kom-bish.hf.space</a:t>
            </a:r>
          </a:p>
          <a:p>
            <a:pPr>
              <a:spcAft>
                <a:spcPts val="200"/>
              </a:spcAft>
            </a:pPr>
            <a:r>
              <a:rPr sz="1200" b="0">
                <a:solidFill>
                  <a:srgbClr val="1B1B1B"/>
                </a:solidFill>
              </a:rPr>
              <a:t>Code</a:t>
            </a:r>
          </a:p>
          <a:p>
            <a:pPr>
              <a:spcAft>
                <a:spcPts val="200"/>
              </a:spcAft>
            </a:pPr>
            <a:r>
              <a:rPr sz="1200" b="0">
                <a:solidFill>
                  <a:srgbClr val="1B1B1B"/>
                </a:solidFill>
              </a:rPr>
              <a:t>https://github.com/Raiyan465-F1/kom-bish</a:t>
            </a:r>
          </a:p>
          <a:p>
            <a:pPr>
              <a:spcAft>
                <a:spcPts val="200"/>
              </a:spcAft>
            </a:pPr>
            <a:r>
              <a:rPr sz="1200" b="0">
                <a:solidFill>
                  <a:srgbClr val="1B1B1B"/>
                </a:solidFill>
              </a:rPr>
              <a:t>Model</a:t>
            </a:r>
          </a:p>
          <a:p>
            <a:pPr>
              <a:spcAft>
                <a:spcPts val="200"/>
              </a:spcAft>
            </a:pPr>
            <a:r>
              <a:rPr sz="1200" b="0">
                <a:solidFill>
                  <a:srgbClr val="1B1B1B"/>
                </a:solidFill>
              </a:rPr>
              <a:t>https://huggingface.co/Raiyan465/kom-bish-rice-leaf</a:t>
            </a:r>
          </a:p>
          <a:p>
            <a:pPr>
              <a:spcAft>
                <a:spcPts val="200"/>
              </a:spcAft>
            </a:pPr>
            <a:r>
              <a:rPr sz="1200" b="0">
                <a:solidFill>
                  <a:srgbClr val="1B1B1B"/>
                </a:solidFill>
              </a:rPr>
              <a:t>Video</a:t>
            </a:r>
          </a:p>
          <a:p>
            <a:pPr>
              <a:spcAft>
                <a:spcPts val="200"/>
              </a:spcAft>
            </a:pPr>
            <a:r>
              <a:rPr sz="1200" b="0">
                <a:solidFill>
                  <a:srgbClr val="1B1B1B"/>
                </a:solidFill>
              </a:rPr>
              <a:t>https://youtu.be/UUdfN2WERf4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